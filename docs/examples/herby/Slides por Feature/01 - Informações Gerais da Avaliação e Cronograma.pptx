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20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Informações Gerais da Avaliação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6" name="Google Shape;96;p20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1"/>
          <p:cNvGrpSpPr/>
          <p:nvPr/>
        </p:nvGrpSpPr>
        <p:grpSpPr>
          <a:xfrm>
            <a:off x="381000" y="1047750"/>
            <a:ext cx="8382150" cy="3429000"/>
            <a:chOff x="381000" y="1047750"/>
            <a:chExt cx="8382150" cy="3429000"/>
          </a:xfrm>
        </p:grpSpPr>
        <p:sp>
          <p:nvSpPr>
            <p:cNvPr id="103" name="Google Shape;103;p21"/>
            <p:cNvSpPr/>
            <p:nvPr/>
          </p:nvSpPr>
          <p:spPr>
            <a:xfrm>
              <a:off x="381000" y="104775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" name="Google Shape;10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000" y="1047750"/>
              <a:ext cx="25719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21"/>
            <p:cNvSpPr txBox="1"/>
            <p:nvPr/>
          </p:nvSpPr>
          <p:spPr>
            <a:xfrm>
              <a:off x="381000" y="1047750"/>
              <a:ext cx="2571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13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1º e 2º Ano</a:t>
              </a:r>
              <a:endParaRPr b="1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" name="Google Shape;106;p21"/>
            <p:cNvSpPr txBox="1"/>
            <p:nvPr/>
          </p:nvSpPr>
          <p:spPr>
            <a:xfrm>
              <a:off x="523875" y="1619250"/>
              <a:ext cx="2286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850">
                  <a:solidFill>
                    <a:srgbClr val="01569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DIA 1 </a:t>
              </a:r>
              <a:endParaRPr b="1" sz="85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de" sz="950">
                  <a:solidFill>
                    <a:srgbClr val="1E293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Língua Portuguesa + Prod. de texto</a:t>
              </a:r>
              <a:endParaRPr b="1" sz="9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de" sz="8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Cad. Língua Portuguesa · Cartão-resposta Objetivo · Cartão Prod. Texto · Cad. Aplicador LP+Mat</a:t>
              </a:r>
              <a:endParaRPr sz="8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de" sz="850">
                  <a:solidFill>
                    <a:srgbClr val="01569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DIA 2 </a:t>
              </a:r>
              <a:endParaRPr b="1" sz="85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de" sz="950">
                  <a:solidFill>
                    <a:srgbClr val="1E293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Matemática</a:t>
              </a:r>
              <a:endParaRPr b="1" sz="9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de" sz="8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Cad. Matemática</a:t>
              </a:r>
              <a:endParaRPr sz="8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de" sz="850">
                  <a:solidFill>
                    <a:srgbClr val="01569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DIA 3 </a:t>
              </a:r>
              <a:endParaRPr b="1" sz="85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de" sz="950">
                  <a:solidFill>
                    <a:srgbClr val="1E293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Ciências Humanas e da Natureza</a:t>
              </a:r>
              <a:endParaRPr b="1" sz="9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de" sz="8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Cad. CHN</a:t>
              </a:r>
              <a:endParaRPr sz="8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3286125" y="104775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" name="Google Shape;108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86125" y="1047750"/>
              <a:ext cx="25719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21"/>
            <p:cNvSpPr txBox="1"/>
            <p:nvPr/>
          </p:nvSpPr>
          <p:spPr>
            <a:xfrm>
              <a:off x="3286125" y="1047750"/>
              <a:ext cx="2571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13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3º Ano</a:t>
              </a:r>
              <a:endParaRPr b="1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" name="Google Shape;110;p21"/>
            <p:cNvSpPr txBox="1"/>
            <p:nvPr/>
          </p:nvSpPr>
          <p:spPr>
            <a:xfrm>
              <a:off x="3429000" y="1619250"/>
              <a:ext cx="2286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850">
                  <a:solidFill>
                    <a:srgbClr val="01569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DIA 1 </a:t>
              </a:r>
              <a:endParaRPr b="1" sz="85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de" sz="950">
                  <a:solidFill>
                    <a:srgbClr val="1E293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Língua Portuguesa + Prod. de texto</a:t>
              </a:r>
              <a:endParaRPr b="1" sz="9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de" sz="8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Cad. Língua Portuguesa · Cartão-resposta Objetivo· Cartão Prod. Texto · Orientação de Prod. de Texto</a:t>
              </a:r>
              <a:endParaRPr sz="8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de" sz="850">
                  <a:solidFill>
                    <a:srgbClr val="01569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DIA 2 </a:t>
              </a:r>
              <a:endParaRPr b="1" sz="85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de" sz="950">
                  <a:solidFill>
                    <a:srgbClr val="1E293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Matemática</a:t>
              </a:r>
              <a:endParaRPr b="1" sz="9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de" sz="8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Cad. Matemática</a:t>
              </a:r>
              <a:endParaRPr sz="8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de" sz="850">
                  <a:solidFill>
                    <a:srgbClr val="01569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DIA 3 </a:t>
              </a:r>
              <a:endParaRPr b="1" sz="85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de" sz="950">
                  <a:solidFill>
                    <a:srgbClr val="1E293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CHN</a:t>
              </a:r>
              <a:endParaRPr b="1" sz="9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de" sz="8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Cad. CHN</a:t>
              </a:r>
              <a:endParaRPr sz="8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" name="Google Shape;111;p21"/>
            <p:cNvSpPr/>
            <p:nvPr/>
          </p:nvSpPr>
          <p:spPr>
            <a:xfrm>
              <a:off x="6191250" y="104775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2" name="Google Shape;11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91250" y="1047750"/>
              <a:ext cx="25719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21"/>
            <p:cNvSpPr txBox="1"/>
            <p:nvPr/>
          </p:nvSpPr>
          <p:spPr>
            <a:xfrm>
              <a:off x="6191250" y="1047750"/>
              <a:ext cx="2571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13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4º e 5º Ano</a:t>
              </a:r>
              <a:endParaRPr b="1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4" name="Google Shape;114;p21"/>
            <p:cNvSpPr txBox="1"/>
            <p:nvPr/>
          </p:nvSpPr>
          <p:spPr>
            <a:xfrm>
              <a:off x="6334125" y="1619250"/>
              <a:ext cx="2286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850">
                  <a:solidFill>
                    <a:srgbClr val="01569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DIA 1 </a:t>
              </a:r>
              <a:endParaRPr b="1" sz="85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de" sz="950">
                  <a:solidFill>
                    <a:srgbClr val="1E293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LP + Mat+ Prod. de texto</a:t>
              </a:r>
              <a:endParaRPr b="1" sz="9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de" sz="8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Cad. LP+Mat · Cartão-resposta Objetivo· Cartão Prod. Texto · </a:t>
              </a:r>
              <a:r>
                <a:rPr lang="de" sz="8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Orientação de Prod. de Texto</a:t>
              </a:r>
              <a:endParaRPr sz="8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850">
                  <a:solidFill>
                    <a:srgbClr val="01569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DIA 2 </a:t>
              </a:r>
              <a:endParaRPr b="1" sz="85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de" sz="950">
                  <a:solidFill>
                    <a:srgbClr val="1E293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CHN</a:t>
              </a:r>
              <a:endParaRPr b="1" sz="9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de" sz="8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Cad. CHN</a:t>
              </a:r>
              <a:endParaRPr sz="8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5" name="Google Shape;115;p21"/>
          <p:cNvSpPr/>
          <p:nvPr/>
        </p:nvSpPr>
        <p:spPr>
          <a:xfrm>
            <a:off x="240030" y="4714875"/>
            <a:ext cx="86412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de" sz="75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Cartão-resposta objetivo: único por estudante, válido para todos os dias. ★ Cartão de Produção de Texto: 1 por aluno, Dia 1.</a:t>
            </a:r>
            <a:endParaRPr b="0" i="1" sz="750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1794450" y="158150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Informações Gerais da Avaliação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8" name="Google Shape;118;p21" title="260324HerbyFinalWeb_HerbyLogo.jpg"/>
          <p:cNvPicPr preferRelativeResize="0"/>
          <p:nvPr/>
        </p:nvPicPr>
        <p:blipFill rotWithShape="1">
          <a:blip r:embed="rId4">
            <a:alphaModFix/>
          </a:blip>
          <a:srcRect b="9690" l="0" r="0" t="9690"/>
          <a:stretch/>
        </p:blipFill>
        <p:spPr>
          <a:xfrm>
            <a:off x="40225" y="28200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