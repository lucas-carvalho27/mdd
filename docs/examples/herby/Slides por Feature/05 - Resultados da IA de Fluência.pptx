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</p:sldIdLst>
  <p:sldSz cy="5143500" cx="9144000"/>
  <p:notesSz cx="6858000" cy="9144000"/>
  <p:embeddedFontLst>
    <p:embeddedFont>
      <p:font typeface="Helvetica Neue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4">
          <p15:clr>
            <a:srgbClr val="A4A3A4"/>
          </p15:clr>
        </p15:guide>
        <p15:guide id="2" pos="2880">
          <p15:clr>
            <a:srgbClr val="A4A3A4"/>
          </p15:clr>
        </p15:guide>
        <p15:guide id="3" pos="1474">
          <p15:clr>
            <a:srgbClr val="9AA0A6"/>
          </p15:clr>
        </p15:guide>
        <p15:guide id="4" orient="horz" pos="623">
          <p15:clr>
            <a:srgbClr val="9AA0A6"/>
          </p15:clr>
        </p15:guide>
        <p15:guide id="5" pos="624">
          <p15:clr>
            <a:srgbClr val="9AA0A6"/>
          </p15:clr>
        </p15:guide>
        <p15:guide id="6" orient="horz" pos="6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Emanuelle Carvalh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4" orient="horz"/>
        <p:guide pos="2880"/>
        <p:guide pos="1474"/>
        <p:guide pos="623" orient="horz"/>
        <p:guide pos="624"/>
        <p:guide pos="6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61" Type="http://schemas.openxmlformats.org/officeDocument/2006/relationships/font" Target="fonts/HelveticaNeue-regular.fntdata"/><Relationship Id="rId62" Type="http://schemas.openxmlformats.org/officeDocument/2006/relationships/font" Target="fonts/HelveticaNeue-bold.fntdata"/><Relationship Id="rId63" Type="http://schemas.openxmlformats.org/officeDocument/2006/relationships/font" Target="fonts/HelveticaNeue-italic.fntdata"/><Relationship Id="rId64" Type="http://schemas.openxmlformats.org/officeDocument/2006/relationships/font" Target="fonts/HelveticaNeue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by">
  <p:cSld name="TITLE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" name="Google Shape;9;p1" title="260324HerbyFinalWeb_HerbyLogo.jpg"/>
          <p:cNvPicPr preferRelativeResize="0"/>
          <p:nvPr/>
        </p:nvPicPr>
        <p:blipFill rotWithShape="1">
          <a:blip r:embed="rId1">
            <a:alphaModFix/>
          </a:blip>
          <a:srcRect b="9690" l="0" r="0" t="9698"/>
          <a:stretch/>
        </p:blipFill>
        <p:spPr>
          <a:xfrm>
            <a:off x="7797950" y="95006"/>
            <a:ext cx="1223204" cy="350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>
            <a:off x="1643725" y="787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6"/>
          <p:cNvSpPr txBox="1"/>
          <p:nvPr/>
        </p:nvSpPr>
        <p:spPr>
          <a:xfrm>
            <a:off x="3767175" y="1891425"/>
            <a:ext cx="41133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 da avaliação de fluência com IA</a:t>
            </a:r>
            <a:endParaRPr sz="2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Herby</a:t>
            </a:r>
            <a:endParaRPr b="1" sz="2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3138075" y="1706825"/>
            <a:ext cx="4742400" cy="471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3767175" y="3420225"/>
            <a:ext cx="4742400" cy="471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6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6" title="260324HerbyFinalWeb_HerbyLogoCyrcle.jpg"/>
          <p:cNvPicPr preferRelativeResize="0"/>
          <p:nvPr/>
        </p:nvPicPr>
        <p:blipFill rotWithShape="1">
          <a:blip r:embed="rId3">
            <a:alphaModFix/>
          </a:blip>
          <a:srcRect b="160" l="0" r="0" t="150"/>
          <a:stretch/>
        </p:blipFill>
        <p:spPr>
          <a:xfrm>
            <a:off x="990601" y="1891433"/>
            <a:ext cx="1379776" cy="13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7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 - Qualidade dos áudios</a:t>
            </a:r>
            <a:endParaRPr b="1" sz="2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3" name="Google Shape;73;p17"/>
          <p:cNvGrpSpPr/>
          <p:nvPr/>
        </p:nvGrpSpPr>
        <p:grpSpPr>
          <a:xfrm>
            <a:off x="96575" y="1001788"/>
            <a:ext cx="4020426" cy="3171050"/>
            <a:chOff x="79375" y="986225"/>
            <a:chExt cx="4020426" cy="3171050"/>
          </a:xfrm>
        </p:grpSpPr>
        <p:pic>
          <p:nvPicPr>
            <p:cNvPr id="74" name="Google Shape;74;p17"/>
            <p:cNvPicPr preferRelativeResize="0"/>
            <p:nvPr/>
          </p:nvPicPr>
          <p:blipFill rotWithShape="1">
            <a:blip r:embed="rId2">
              <a:alphaModFix/>
            </a:blip>
            <a:srcRect b="0" l="0" r="61572" t="0"/>
            <a:stretch/>
          </p:blipFill>
          <p:spPr>
            <a:xfrm>
              <a:off x="79375" y="986225"/>
              <a:ext cx="3396600" cy="3171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7"/>
            <p:cNvPicPr preferRelativeResize="0"/>
            <p:nvPr/>
          </p:nvPicPr>
          <p:blipFill rotWithShape="1">
            <a:blip r:embed="rId2">
              <a:alphaModFix/>
            </a:blip>
            <a:srcRect b="0" l="40778" r="50944" t="0"/>
            <a:stretch/>
          </p:blipFill>
          <p:spPr>
            <a:xfrm>
              <a:off x="3368077" y="986225"/>
              <a:ext cx="731724" cy="31710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" name="Google Shape;76;p17"/>
          <p:cNvGrpSpPr/>
          <p:nvPr/>
        </p:nvGrpSpPr>
        <p:grpSpPr>
          <a:xfrm>
            <a:off x="4463950" y="1001788"/>
            <a:ext cx="4583476" cy="3171050"/>
            <a:chOff x="4446750" y="986225"/>
            <a:chExt cx="4583476" cy="3171050"/>
          </a:xfrm>
        </p:grpSpPr>
        <p:pic>
          <p:nvPicPr>
            <p:cNvPr id="77" name="Google Shape;77;p17"/>
            <p:cNvPicPr preferRelativeResize="0"/>
            <p:nvPr/>
          </p:nvPicPr>
          <p:blipFill rotWithShape="1">
            <a:blip r:embed="rId2">
              <a:alphaModFix/>
            </a:blip>
            <a:srcRect b="0" l="48052" r="8371" t="0"/>
            <a:stretch/>
          </p:blipFill>
          <p:spPr>
            <a:xfrm>
              <a:off x="4446750" y="986225"/>
              <a:ext cx="3851748" cy="3171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17"/>
            <p:cNvPicPr preferRelativeResize="0"/>
            <p:nvPr/>
          </p:nvPicPr>
          <p:blipFill rotWithShape="1">
            <a:blip r:embed="rId2">
              <a:alphaModFix/>
            </a:blip>
            <a:srcRect b="0" l="40778" r="50944" t="0"/>
            <a:stretch/>
          </p:blipFill>
          <p:spPr>
            <a:xfrm>
              <a:off x="8298502" y="986225"/>
              <a:ext cx="731724" cy="3171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9" name="Google Shape;79;p17"/>
          <p:cNvSpPr/>
          <p:nvPr/>
        </p:nvSpPr>
        <p:spPr>
          <a:xfrm>
            <a:off x="165950" y="970663"/>
            <a:ext cx="4020300" cy="2959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4463950" y="970663"/>
            <a:ext cx="4540800" cy="2959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128950" y="4037100"/>
            <a:ext cx="40941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2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*em uma amostra de 10,54% dos estudantes do 2° ano</a:t>
            </a:r>
            <a:endParaRPr b="1" sz="12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 - IA x Professor</a:t>
            </a:r>
            <a:endParaRPr b="1" i="0" sz="2000" u="none" cap="none" strike="noStrike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 rotWithShape="1">
          <a:blip r:embed="rId2">
            <a:alphaModFix/>
          </a:blip>
          <a:srcRect b="0" l="0" r="54872" t="0"/>
          <a:stretch/>
        </p:blipFill>
        <p:spPr>
          <a:xfrm>
            <a:off x="215025" y="894200"/>
            <a:ext cx="3989024" cy="3355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" name="Google Shape;89;p18"/>
          <p:cNvPicPr preferRelativeResize="0"/>
          <p:nvPr/>
        </p:nvPicPr>
        <p:blipFill rotWithShape="1">
          <a:blip r:embed="rId2">
            <a:alphaModFix/>
          </a:blip>
          <a:srcRect b="0" l="48115" r="942" t="0"/>
          <a:stretch/>
        </p:blipFill>
        <p:spPr>
          <a:xfrm>
            <a:off x="4415750" y="894200"/>
            <a:ext cx="4502832" cy="3355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 - Professor x IA</a:t>
            </a:r>
            <a:endParaRPr b="1" i="0" sz="2000" u="none" cap="none" strike="noStrike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96" name="Google Shape;96;p19"/>
          <p:cNvGrpSpPr/>
          <p:nvPr/>
        </p:nvGrpSpPr>
        <p:grpSpPr>
          <a:xfrm>
            <a:off x="152400" y="787138"/>
            <a:ext cx="8839197" cy="3569231"/>
            <a:chOff x="152400" y="787138"/>
            <a:chExt cx="8839197" cy="3569231"/>
          </a:xfrm>
        </p:grpSpPr>
        <p:pic>
          <p:nvPicPr>
            <p:cNvPr id="97" name="Google Shape;97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52400" y="787138"/>
              <a:ext cx="8839197" cy="3569231"/>
            </a:xfrm>
            <a:prstGeom prst="rect">
              <a:avLst/>
            </a:prstGeom>
            <a:noFill/>
            <a:ln cap="flat" cmpd="sng" w="9525">
              <a:solidFill>
                <a:srgbClr val="92929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8" name="Google Shape;98;p19"/>
            <p:cNvSpPr/>
            <p:nvPr/>
          </p:nvSpPr>
          <p:spPr>
            <a:xfrm>
              <a:off x="194625" y="2214100"/>
              <a:ext cx="125400" cy="1119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99" name="Google Shape;99;p19"/>
          <p:cNvSpPr txBox="1"/>
          <p:nvPr/>
        </p:nvSpPr>
        <p:spPr>
          <a:xfrm>
            <a:off x="152400" y="4447400"/>
            <a:ext cx="88590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Nível 1 - Não leitor	Nível 2 - Leitor de sílabas	Nível 3 - Leitor de palavras	Nível 4 - Leitor de frases	</a:t>
            </a:r>
            <a:endParaRPr b="1" sz="1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Nível 5 - Leitor de texto não fluente	Nível 6 - Leitor de texto fluente</a:t>
            </a:r>
            <a:endParaRPr b="1" sz="1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 - Controle Interno x IA x Professor</a:t>
            </a:r>
            <a:endParaRPr b="1" i="0" sz="2000" u="none" cap="none" strike="noStrike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6" name="Google Shape;106;p20"/>
          <p:cNvPicPr preferRelativeResize="0"/>
          <p:nvPr/>
        </p:nvPicPr>
        <p:blipFill rotWithShape="1">
          <a:blip r:embed="rId2">
            <a:alphaModFix/>
          </a:blip>
          <a:srcRect b="0" l="0" r="50145" t="0"/>
          <a:stretch/>
        </p:blipFill>
        <p:spPr>
          <a:xfrm>
            <a:off x="152400" y="848525"/>
            <a:ext cx="4270850" cy="4142574"/>
          </a:xfrm>
          <a:prstGeom prst="rect">
            <a:avLst/>
          </a:prstGeom>
          <a:noFill/>
          <a:ln cap="flat" cmpd="sng" w="9525">
            <a:solidFill>
              <a:srgbClr val="92929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7" name="Google Shape;107;p20"/>
          <p:cNvPicPr preferRelativeResize="0"/>
          <p:nvPr/>
        </p:nvPicPr>
        <p:blipFill rotWithShape="1">
          <a:blip r:embed="rId2">
            <a:alphaModFix/>
          </a:blip>
          <a:srcRect b="0" l="48990" r="0" t="0"/>
          <a:stretch/>
        </p:blipFill>
        <p:spPr>
          <a:xfrm>
            <a:off x="4642450" y="848525"/>
            <a:ext cx="4369724" cy="4142574"/>
          </a:xfrm>
          <a:prstGeom prst="rect">
            <a:avLst/>
          </a:prstGeom>
          <a:noFill/>
          <a:ln cap="flat" cmpd="sng" w="9525">
            <a:solidFill>
              <a:srgbClr val="92929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/>
          <p:nvPr/>
        </p:nvSpPr>
        <p:spPr>
          <a:xfrm>
            <a:off x="1643725" y="787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1" title="260324HerbyFinalWeb_HerbyLogoCyrcle.jpg"/>
          <p:cNvPicPr preferRelativeResize="0"/>
          <p:nvPr/>
        </p:nvPicPr>
        <p:blipFill rotWithShape="1">
          <a:blip r:embed="rId2">
            <a:alphaModFix/>
          </a:blip>
          <a:srcRect b="160" l="0" r="0" t="150"/>
          <a:stretch/>
        </p:blipFill>
        <p:spPr>
          <a:xfrm>
            <a:off x="692102" y="1636925"/>
            <a:ext cx="1890024" cy="18853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 txBox="1"/>
          <p:nvPr/>
        </p:nvSpPr>
        <p:spPr>
          <a:xfrm>
            <a:off x="3067725" y="2109600"/>
            <a:ext cx="5509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3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Próximos passos</a:t>
            </a:r>
            <a:endParaRPr b="1" sz="3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5" name="Google Shape;115;p21" title="260324HerbyFinalWeb_HerbyLogo.jpg"/>
          <p:cNvPicPr preferRelativeResize="0"/>
          <p:nvPr/>
        </p:nvPicPr>
        <p:blipFill rotWithShape="1">
          <a:blip r:embed="rId3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2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Melhorias em desenvolvimento</a:t>
            </a:r>
            <a:endParaRPr b="1" i="0" sz="2000" u="none" cap="none" strike="noStrike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2" name="Google Shape;122;p22" title="Design sem nome (3).jpg"/>
          <p:cNvPicPr preferRelativeResize="0"/>
          <p:nvPr/>
        </p:nvPicPr>
        <p:blipFill rotWithShape="1">
          <a:blip r:embed="rId2">
            <a:alphaModFix/>
          </a:blip>
          <a:srcRect b="52638" l="0" r="66989" t="0"/>
          <a:stretch/>
        </p:blipFill>
        <p:spPr>
          <a:xfrm>
            <a:off x="1080425" y="1583150"/>
            <a:ext cx="2449925" cy="197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/>
        </p:nvSpPr>
        <p:spPr>
          <a:xfrm>
            <a:off x="4034825" y="1583150"/>
            <a:ext cx="4563000" cy="2209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2">
                <a:alpha val="50000"/>
              </a:schemeClr>
            </a:outerShdw>
          </a:effectLst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3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Ferramenta de teste de ambiente: validação de ruídos externos, proximidade do microfone e qualidade geral do áudio</a:t>
            </a:r>
            <a:endParaRPr b="1" i="0" sz="2300" u="none" cap="none" strike="noStrike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929292"/>
      </a:dk1>
      <a:lt1>
        <a:srgbClr val="FFFFFF"/>
      </a:lt1>
      <a:dk2>
        <a:srgbClr val="929292"/>
      </a:dk2>
      <a:lt2>
        <a:srgbClr val="494949"/>
      </a:lt2>
      <a:accent1>
        <a:srgbClr val="494949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