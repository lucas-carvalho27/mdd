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11"/>
    <p:sldId id="257" r:id="rId12"/>
    <p:sldId id="258" r:id="rId13"/>
  </p:sldIdLst>
  <p:sldSz cy="5143500" cx="9144000"/>
  <p:notesSz cx="6858000" cy="9144000"/>
  <p:embeddedFontLst>
    <p:embeddedFont>
      <p:font typeface="Helvetica Neue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4">
          <p15:clr>
            <a:srgbClr val="A4A3A4"/>
          </p15:clr>
        </p15:guide>
        <p15:guide id="2" pos="2880">
          <p15:clr>
            <a:srgbClr val="A4A3A4"/>
          </p15:clr>
        </p15:guide>
        <p15:guide id="3" pos="1474">
          <p15:clr>
            <a:srgbClr val="9AA0A6"/>
          </p15:clr>
        </p15:guide>
        <p15:guide id="4" orient="horz" pos="623">
          <p15:clr>
            <a:srgbClr val="9AA0A6"/>
          </p15:clr>
        </p15:guide>
        <p15:guide id="5" pos="624">
          <p15:clr>
            <a:srgbClr val="9AA0A6"/>
          </p15:clr>
        </p15:guide>
        <p15:guide id="6" orient="horz" pos="6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Emanuelle Carvalh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4" orient="horz"/>
        <p:guide pos="2880"/>
        <p:guide pos="1474"/>
        <p:guide pos="623" orient="horz"/>
        <p:guide pos="624"/>
        <p:guide pos="6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61" Type="http://schemas.openxmlformats.org/officeDocument/2006/relationships/font" Target="fonts/HelveticaNeue-regular.fntdata"/><Relationship Id="rId62" Type="http://schemas.openxmlformats.org/officeDocument/2006/relationships/font" Target="fonts/HelveticaNeue-bold.fntdata"/><Relationship Id="rId63" Type="http://schemas.openxmlformats.org/officeDocument/2006/relationships/font" Target="fonts/HelveticaNeue-italic.fntdata"/><Relationship Id="rId64" Type="http://schemas.openxmlformats.org/officeDocument/2006/relationships/font" Target="fonts/HelveticaNeue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by">
  <p:cSld name="TITLE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5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9" name="Google Shape;9;p1" title="260324HerbyFinalWeb_HerbyLogo.jpg"/>
          <p:cNvPicPr preferRelativeResize="0"/>
          <p:nvPr/>
        </p:nvPicPr>
        <p:blipFill rotWithShape="1">
          <a:blip r:embed="rId1">
            <a:alphaModFix/>
          </a:blip>
          <a:srcRect b="9690" l="0" r="0" t="9698"/>
          <a:stretch/>
        </p:blipFill>
        <p:spPr>
          <a:xfrm>
            <a:off x="7797950" y="95006"/>
            <a:ext cx="1223204" cy="350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6"/>
          <p:cNvSpPr/>
          <p:nvPr/>
        </p:nvSpPr>
        <p:spPr>
          <a:xfrm>
            <a:off x="1643725" y="7875"/>
            <a:ext cx="750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7" name="Google Shape;447;p46" title="260324HerbyFinalWeb_HerbyLogoCyrcle.jpg"/>
          <p:cNvPicPr preferRelativeResize="0"/>
          <p:nvPr/>
        </p:nvPicPr>
        <p:blipFill rotWithShape="1">
          <a:blip r:embed="rId2">
            <a:alphaModFix/>
          </a:blip>
          <a:srcRect b="160" l="0" r="0" t="150"/>
          <a:stretch/>
        </p:blipFill>
        <p:spPr>
          <a:xfrm>
            <a:off x="692102" y="1636925"/>
            <a:ext cx="1890024" cy="1885399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6"/>
          <p:cNvSpPr txBox="1"/>
          <p:nvPr/>
        </p:nvSpPr>
        <p:spPr>
          <a:xfrm>
            <a:off x="3067725" y="2109600"/>
            <a:ext cx="5509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3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r>
              <a:rPr b="1" lang="de" sz="3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Monitoramento e Resultados</a:t>
            </a:r>
            <a:endParaRPr b="1" sz="3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49" name="Google Shape;449;p46" title="260324HerbyFinalWeb_HerbyLogo.jpg"/>
          <p:cNvPicPr preferRelativeResize="0"/>
          <p:nvPr/>
        </p:nvPicPr>
        <p:blipFill rotWithShape="1">
          <a:blip r:embed="rId3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7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7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47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Monitoramento e Resultados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57" name="Google Shape;457;p47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7"/>
          <p:cNvSpPr txBox="1"/>
          <p:nvPr/>
        </p:nvSpPr>
        <p:spPr>
          <a:xfrm>
            <a:off x="408600" y="842725"/>
            <a:ext cx="832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Este 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 o lugar onde os gestores acompanham o progresso de toda a avaliação, acessam gráficos, relatórios e baixam os resultados. E tudo em tempo real!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9" name="Google Shape;459;p47"/>
          <p:cNvSpPr/>
          <p:nvPr/>
        </p:nvSpPr>
        <p:spPr>
          <a:xfrm>
            <a:off x="464525" y="1967850"/>
            <a:ext cx="8217900" cy="30321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60" name="Google Shape;460;p47"/>
          <p:cNvPicPr preferRelativeResize="0"/>
          <p:nvPr/>
        </p:nvPicPr>
        <p:blipFill rotWithShape="1">
          <a:blip r:embed="rId3">
            <a:alphaModFix/>
          </a:blip>
          <a:srcRect b="16051" l="0" r="0" t="0"/>
          <a:stretch/>
        </p:blipFill>
        <p:spPr>
          <a:xfrm>
            <a:off x="370775" y="1666425"/>
            <a:ext cx="8405399" cy="321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61" name="Google Shape;46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601" y="3174475"/>
            <a:ext cx="951600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7"/>
          <p:cNvSpPr/>
          <p:nvPr/>
        </p:nvSpPr>
        <p:spPr>
          <a:xfrm>
            <a:off x="383200" y="2358850"/>
            <a:ext cx="1507200" cy="2895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63" name="Google Shape;463;p47"/>
          <p:cNvSpPr/>
          <p:nvPr/>
        </p:nvSpPr>
        <p:spPr>
          <a:xfrm>
            <a:off x="1988975" y="3285175"/>
            <a:ext cx="2946600" cy="2403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0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0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50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Monitoramento e Resultados -</a:t>
            </a:r>
            <a:r>
              <a:rPr b="1" lang="de" sz="20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20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b="1" i="0" sz="2000" u="none" cap="none" strike="noStrike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96" name="Google Shape;496;p50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50"/>
          <p:cNvSpPr txBox="1"/>
          <p:nvPr/>
        </p:nvSpPr>
        <p:spPr>
          <a:xfrm>
            <a:off x="447925" y="652125"/>
            <a:ext cx="7812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Nesta aba, será possível visualizar de forma detalhadas os resultados das avaliações separados por etapa e disciplina.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dados principais são: índice de participação, média de desempenho, distribuição de níveis e desempenho por descritor.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98" name="Google Shape;49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95" y="1525375"/>
            <a:ext cx="7654654" cy="3548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99" name="Google Shape;499;p50"/>
          <p:cNvSpPr/>
          <p:nvPr/>
        </p:nvSpPr>
        <p:spPr>
          <a:xfrm>
            <a:off x="2677325" y="2692850"/>
            <a:ext cx="717900" cy="3462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00" name="Google Shape;50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3701" y="2577350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929292"/>
      </a:dk1>
      <a:lt1>
        <a:srgbClr val="FFFFFF"/>
      </a:lt1>
      <a:dk2>
        <a:srgbClr val="929292"/>
      </a:dk2>
      <a:lt2>
        <a:srgbClr val="494949"/>
      </a:lt2>
      <a:accent1>
        <a:srgbClr val="494949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