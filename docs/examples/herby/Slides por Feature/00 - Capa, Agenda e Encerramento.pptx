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2" r:id="rId5"/>
  </p:sldMasterIdLst>
  <p:notesMasterIdLst>
    <p:notesMasterId r:id="rId6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y="5143500" cx="9144000"/>
  <p:notesSz cx="6858000" cy="9144000"/>
  <p:embeddedFontLst>
    <p:embeddedFont>
      <p:font typeface="Helvetica Neue"/>
      <p:regular r:id="rId61"/>
      <p:bold r:id="rId62"/>
      <p:italic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74">
          <p15:clr>
            <a:srgbClr val="A4A3A4"/>
          </p15:clr>
        </p15:guide>
        <p15:guide id="2" pos="2880">
          <p15:clr>
            <a:srgbClr val="A4A3A4"/>
          </p15:clr>
        </p15:guide>
        <p15:guide id="3" pos="1474">
          <p15:clr>
            <a:srgbClr val="9AA0A6"/>
          </p15:clr>
        </p15:guide>
        <p15:guide id="4" orient="horz" pos="623">
          <p15:clr>
            <a:srgbClr val="9AA0A6"/>
          </p15:clr>
        </p15:guide>
        <p15:guide id="5" pos="624">
          <p15:clr>
            <a:srgbClr val="9AA0A6"/>
          </p15:clr>
        </p15:guide>
        <p15:guide id="6" orient="horz" pos="604">
          <p15:clr>
            <a:srgbClr val="9AA0A6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5" name="Emanuelle Carvalho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74" orient="horz"/>
        <p:guide pos="2880"/>
        <p:guide pos="1474"/>
        <p:guide pos="623" orient="horz"/>
        <p:guide pos="624"/>
        <p:guide pos="60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61" Type="http://schemas.openxmlformats.org/officeDocument/2006/relationships/font" Target="fonts/HelveticaNeue-regular.fntdata"/><Relationship Id="rId62" Type="http://schemas.openxmlformats.org/officeDocument/2006/relationships/font" Target="fonts/HelveticaNeue-bold.fntdata"/><Relationship Id="rId63" Type="http://schemas.openxmlformats.org/officeDocument/2006/relationships/font" Target="fonts/HelveticaNeue-italic.fntdata"/><Relationship Id="rId64" Type="http://schemas.openxmlformats.org/officeDocument/2006/relationships/font" Target="fonts/HelveticaNeue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 2">
  <p:cSld name="TITLE_3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rm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rby">
  <p:cSld name="TITLE_4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TITLE_5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4488971" y="4902398"/>
            <a:ext cx="162600" cy="1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26775" lIns="26775" spcFirstLastPara="1" rIns="26775" wrap="square" tIns="267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ource Sans Pro"/>
              <a:buNone/>
              <a:defRPr b="0" i="0" sz="800" u="none" cap="none" strike="noStrike">
                <a:solidFill>
                  <a:srgbClr val="000000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rgbClr val="01569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  <p:pic>
        <p:nvPicPr>
          <p:cNvPr id="9" name="Google Shape;9;p1" title="260324HerbyFinalWeb_HerbyLogo.jpg"/>
          <p:cNvPicPr preferRelativeResize="0"/>
          <p:nvPr/>
        </p:nvPicPr>
        <p:blipFill rotWithShape="1">
          <a:blip r:embed="rId1">
            <a:alphaModFix/>
          </a:blip>
          <a:srcRect b="9690" l="0" r="0" t="9698"/>
          <a:stretch/>
        </p:blipFill>
        <p:spPr>
          <a:xfrm>
            <a:off x="7797950" y="95006"/>
            <a:ext cx="1223204" cy="35002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hyperlink" Target="https://www.herbyvision.com/" TargetMode="External"/><Relationship Id="rId3" Type="http://schemas.openxmlformats.org/officeDocument/2006/relationships/hyperlink" Target="https://www.linkedin.com/company/herbydigital/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instagram.com/herbyvisionbr" TargetMode="External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hyperlink" Target="https://www.herbyvision.com/" TargetMode="External"/><Relationship Id="rId3" Type="http://schemas.openxmlformats.org/officeDocument/2006/relationships/hyperlink" Target="https://www.linkedin.com/company/herbydigital/" TargetMode="External"/><Relationship Id="rId4" Type="http://schemas.openxmlformats.org/officeDocument/2006/relationships/image" Target="../media/image7.png"/><Relationship Id="rId5" Type="http://schemas.openxmlformats.org/officeDocument/2006/relationships/image" Target="../media/image4.png"/><Relationship Id="rId6" Type="http://schemas.openxmlformats.org/officeDocument/2006/relationships/hyperlink" Target="https://instagram.com/herbyvisionbr" TargetMode="External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1645100" y="-12"/>
            <a:ext cx="7500000" cy="5143500"/>
          </a:xfrm>
          <a:prstGeom prst="rect">
            <a:avLst/>
          </a:prstGeom>
          <a:solidFill>
            <a:srgbClr val="075A9B"/>
          </a:solidFill>
          <a:ln cap="flat" cmpd="sng" w="9525">
            <a:solidFill>
              <a:srgbClr val="075A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62" name="Google Shape;6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4675" y="750575"/>
            <a:ext cx="2576401" cy="3642326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/>
          <p:nvPr/>
        </p:nvSpPr>
        <p:spPr>
          <a:xfrm>
            <a:off x="3782900" y="1783025"/>
            <a:ext cx="3224400" cy="78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 txBox="1"/>
          <p:nvPr/>
        </p:nvSpPr>
        <p:spPr>
          <a:xfrm>
            <a:off x="3691175" y="1849925"/>
            <a:ext cx="33975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600">
                <a:solidFill>
                  <a:srgbClr val="3965A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Primeiros Passos</a:t>
            </a:r>
            <a:endParaRPr b="1" sz="2600">
              <a:solidFill>
                <a:srgbClr val="3965A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6"/>
          <p:cNvSpPr/>
          <p:nvPr/>
        </p:nvSpPr>
        <p:spPr>
          <a:xfrm>
            <a:off x="4467850" y="2501800"/>
            <a:ext cx="3397500" cy="786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3965A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6"/>
          <p:cNvSpPr txBox="1"/>
          <p:nvPr/>
        </p:nvSpPr>
        <p:spPr>
          <a:xfrm>
            <a:off x="4467850" y="2535246"/>
            <a:ext cx="3397500" cy="7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600">
                <a:solidFill>
                  <a:srgbClr val="3965A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Rondônia 2026</a:t>
            </a:r>
            <a:endParaRPr b="1" sz="2600">
              <a:solidFill>
                <a:srgbClr val="3965A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7" name="Google Shape;67;p16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/>
        </p:nvSpPr>
        <p:spPr>
          <a:xfrm>
            <a:off x="3767175" y="1891425"/>
            <a:ext cx="41133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Orientações para o uso da </a:t>
            </a: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Plataforma Herby</a:t>
            </a:r>
            <a:endParaRPr b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138075" y="17068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3767175" y="34202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6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990601" y="1891433"/>
            <a:ext cx="1379776" cy="13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7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" name="Google Shape;74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128823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1863925" y="1250275"/>
            <a:ext cx="6085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Processamento por foto dos Cartões de Respostas;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17"/>
          <p:cNvSpPr txBox="1"/>
          <p:nvPr/>
        </p:nvSpPr>
        <p:spPr>
          <a:xfrm>
            <a:off x="1863775" y="2071175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Acesso à Plataforma;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2069850"/>
            <a:ext cx="378251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2851438"/>
            <a:ext cx="378251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7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7"/>
          <p:cNvSpPr txBox="1"/>
          <p:nvPr/>
        </p:nvSpPr>
        <p:spPr>
          <a:xfrm>
            <a:off x="1863925" y="3596575"/>
            <a:ext cx="6370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Impressão;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1" name="Google Shape;81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359658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863925" y="2851450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Gestão da Base de Dados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3" name="Google Shape;83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434173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1920988" y="4335625"/>
            <a:ext cx="6370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Monitoramento e Resultados. 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EFEFEF"/>
        </a:solidFill>
      </p:bgPr>
    </p:bg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69"/>
          <p:cNvSpPr txBox="1"/>
          <p:nvPr/>
        </p:nvSpPr>
        <p:spPr>
          <a:xfrm>
            <a:off x="2284800" y="1778375"/>
            <a:ext cx="4574400" cy="1026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4800000" dist="66675">
              <a:srgbClr val="000000">
                <a:alpha val="90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Source Sans Pro"/>
              <a:buNone/>
            </a:pPr>
            <a:r>
              <a:rPr b="1" i="0" lang="de" sz="6100" u="none" cap="none" strike="noStrike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Obrigado</a:t>
            </a:r>
            <a:r>
              <a:rPr b="1" lang="de" sz="6100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(a)</a:t>
            </a:r>
            <a:r>
              <a:rPr b="1" i="0" lang="de" sz="6100" u="none" cap="none" strike="noStrike">
                <a:solidFill>
                  <a:srgbClr val="015699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!</a:t>
            </a:r>
            <a:endParaRPr b="1" i="0" sz="4100" u="none" cap="none" strike="noStrike">
              <a:solidFill>
                <a:srgbClr val="01569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717" name="Google Shape;717;p69"/>
          <p:cNvSpPr txBox="1"/>
          <p:nvPr/>
        </p:nvSpPr>
        <p:spPr>
          <a:xfrm>
            <a:off x="3910200" y="4539150"/>
            <a:ext cx="1323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700"/>
              <a:buFont typeface="Source Sans Pro"/>
              <a:buNone/>
            </a:pPr>
            <a:r>
              <a:rPr b="1" i="0" lang="de" sz="1000" u="sng" cap="none" strike="noStrike">
                <a:solidFill>
                  <a:srgbClr val="494949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www.herbyvision.com</a:t>
            </a:r>
            <a:endParaRPr b="0" i="0" sz="1000" u="none" cap="none" strike="noStrike">
              <a:solidFill>
                <a:srgbClr val="494949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718" name="Google Shape;718;p6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4750" y="4821536"/>
            <a:ext cx="212823" cy="21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9" name="Google Shape;719;p69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21447" y="4821758"/>
            <a:ext cx="212826" cy="2126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5699"/>
              </a:solidFill>
            </a:endParaRPr>
          </a:p>
        </p:txBody>
      </p:sp>
      <p:sp>
        <p:nvSpPr>
          <p:cNvPr id="62" name="Google Shape;62;p16"/>
          <p:cNvSpPr/>
          <p:nvPr/>
        </p:nvSpPr>
        <p:spPr>
          <a:xfrm>
            <a:off x="3068625" y="1706825"/>
            <a:ext cx="54411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6"/>
          <p:cNvSpPr/>
          <p:nvPr/>
        </p:nvSpPr>
        <p:spPr>
          <a:xfrm>
            <a:off x="3767175" y="3420225"/>
            <a:ext cx="4742400" cy="47100"/>
          </a:xfrm>
          <a:prstGeom prst="rect">
            <a:avLst/>
          </a:prstGeom>
          <a:solidFill>
            <a:srgbClr val="3A5E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4" name="Google Shape;64;p1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6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990601" y="1891433"/>
            <a:ext cx="1379776" cy="13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 txBox="1"/>
          <p:nvPr/>
        </p:nvSpPr>
        <p:spPr>
          <a:xfrm>
            <a:off x="2142025" y="1891425"/>
            <a:ext cx="6809100" cy="1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Orientações para uso d</a:t>
            </a: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b="1" lang="de" sz="2600">
                <a:solidFill>
                  <a:srgbClr val="015699"/>
                </a:solidFill>
              </a:rPr>
              <a:t> </a:t>
            </a:r>
            <a:endParaRPr b="1" sz="2600">
              <a:solidFill>
                <a:srgbClr val="015699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Ferramenta</a:t>
            </a: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Herby</a:t>
            </a:r>
            <a:endParaRPr b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93700" lvl="0" marL="457200" rtl="0" algn="ctr">
              <a:spcBef>
                <a:spcPts val="0"/>
              </a:spcBef>
              <a:spcAft>
                <a:spcPts val="0"/>
              </a:spcAft>
              <a:buClr>
                <a:srgbClr val="015699"/>
              </a:buClr>
              <a:buSzPts val="2600"/>
              <a:buFont typeface="Helvetica Neue"/>
              <a:buChar char="-"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de Fluência -</a:t>
            </a: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EPV</a:t>
            </a:r>
            <a:endParaRPr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3138075" y="34202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8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8"/>
          <p:cNvSpPr txBox="1"/>
          <p:nvPr/>
        </p:nvSpPr>
        <p:spPr>
          <a:xfrm>
            <a:off x="3767175" y="1891425"/>
            <a:ext cx="41133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Orientações</a:t>
            </a:r>
            <a:endParaRPr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Avaliação Formativa - SAEMA 2026</a:t>
            </a:r>
            <a:endParaRPr b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" name="Google Shape;65;p18"/>
          <p:cNvSpPr/>
          <p:nvPr/>
        </p:nvSpPr>
        <p:spPr>
          <a:xfrm>
            <a:off x="3138075" y="17068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8"/>
          <p:cNvSpPr/>
          <p:nvPr/>
        </p:nvSpPr>
        <p:spPr>
          <a:xfrm>
            <a:off x="3767175" y="34202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" name="Google Shape;67;p18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8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990601" y="1891433"/>
            <a:ext cx="1379776" cy="13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 txBox="1"/>
          <p:nvPr/>
        </p:nvSpPr>
        <p:spPr>
          <a:xfrm>
            <a:off x="3138075" y="1891425"/>
            <a:ext cx="53715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Orientações para o uso da </a:t>
            </a: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Ferramenta </a:t>
            </a:r>
            <a:r>
              <a:rPr b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Herby Processamento dos formulários</a:t>
            </a:r>
            <a:endParaRPr b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3138075" y="17068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767175" y="3420225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5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990601" y="1891433"/>
            <a:ext cx="1379776" cy="13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/>
        </p:nvSpPr>
        <p:spPr>
          <a:xfrm>
            <a:off x="3614925" y="2553800"/>
            <a:ext cx="5362200" cy="13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Orientações para o preenchimento do </a:t>
            </a:r>
            <a:r>
              <a:rPr i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de dados</a:t>
            </a:r>
            <a:endParaRPr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2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(Rede Municipal)</a:t>
            </a:r>
            <a:endParaRPr i="1" sz="2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3" name="Google Shape;63;p16"/>
          <p:cNvSpPr/>
          <p:nvPr/>
        </p:nvSpPr>
        <p:spPr>
          <a:xfrm>
            <a:off x="3614925" y="2361750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4244025" y="4075150"/>
            <a:ext cx="4742400" cy="471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6" title="260324HerbyFinalWeb_HerbyLogo.jpg"/>
          <p:cNvPicPr preferRelativeResize="0"/>
          <p:nvPr/>
        </p:nvPicPr>
        <p:blipFill rotWithShape="1">
          <a:blip r:embed="rId2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6"/>
          <p:cNvSpPr/>
          <p:nvPr/>
        </p:nvSpPr>
        <p:spPr>
          <a:xfrm>
            <a:off x="3562100" y="1074850"/>
            <a:ext cx="3559800" cy="786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6"/>
          <p:cNvSpPr txBox="1"/>
          <p:nvPr/>
        </p:nvSpPr>
        <p:spPr>
          <a:xfrm>
            <a:off x="2933825" y="1141750"/>
            <a:ext cx="4882500" cy="65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34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PAIC/PROALFA 2026</a:t>
            </a:r>
            <a:endParaRPr b="1" sz="34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16" title="LOGO DIGITAL GOV RO 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976" y="1946875"/>
            <a:ext cx="2663526" cy="1473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/>
          <p:nvPr/>
        </p:nvSpPr>
        <p:spPr>
          <a:xfrm>
            <a:off x="1643725" y="-1215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7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17"/>
          <p:cNvSpPr txBox="1"/>
          <p:nvPr/>
        </p:nvSpPr>
        <p:spPr>
          <a:xfrm>
            <a:off x="1863775" y="2071175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Avaliação de Fluência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2069850"/>
            <a:ext cx="378251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7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863775" y="2833175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Impressão no SAEV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9" name="Google Shape;79;p17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2831850"/>
            <a:ext cx="378251" cy="37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1680100" y="-10852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6"/>
          <p:cNvSpPr/>
          <p:nvPr/>
        </p:nvSpPr>
        <p:spPr>
          <a:xfrm>
            <a:off x="574225" y="6263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1794475" y="3946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Funcionalidades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2" name="Google Shape;72;p16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166923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/>
        </p:nvSpPr>
        <p:spPr>
          <a:xfrm>
            <a:off x="1863925" y="1631275"/>
            <a:ext cx="6085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Processamento por foto dos Cartões de Respostas;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4" name="Google Shape;74;p16" title="260324HerbyFinalWeb_HerbyLogo.jpg"/>
          <p:cNvPicPr preferRelativeResize="0"/>
          <p:nvPr/>
        </p:nvPicPr>
        <p:blipFill rotWithShape="1">
          <a:blip r:embed="rId3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1863925" y="2377375"/>
            <a:ext cx="6370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Impressão dos Cartões de Respostas.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6" name="Google Shape;76;p16" title="260324HerbyFinalWeb_HerbyLogoCyrcle.jpg"/>
          <p:cNvPicPr preferRelativeResize="0"/>
          <p:nvPr/>
        </p:nvPicPr>
        <p:blipFill rotWithShape="1">
          <a:blip r:embed="rId2">
            <a:alphaModFix/>
          </a:blip>
          <a:srcRect b="160" l="0" r="0" t="150"/>
          <a:stretch/>
        </p:blipFill>
        <p:spPr>
          <a:xfrm>
            <a:off x="1265475" y="2377388"/>
            <a:ext cx="378251" cy="377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3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/>
          <p:nvPr/>
        </p:nvSpPr>
        <p:spPr>
          <a:xfrm>
            <a:off x="1643725" y="7875"/>
            <a:ext cx="7500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8450" y="4360450"/>
            <a:ext cx="520499" cy="73584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/>
          <p:nvPr/>
        </p:nvSpPr>
        <p:spPr>
          <a:xfrm>
            <a:off x="574225" y="778775"/>
            <a:ext cx="1069500" cy="66600"/>
          </a:xfrm>
          <a:prstGeom prst="rect">
            <a:avLst/>
          </a:prstGeom>
          <a:solidFill>
            <a:srgbClr val="0156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7"/>
          <p:cNvSpPr txBox="1"/>
          <p:nvPr/>
        </p:nvSpPr>
        <p:spPr>
          <a:xfrm>
            <a:off x="1794475" y="547025"/>
            <a:ext cx="7124100" cy="5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Avaliação </a:t>
            </a:r>
            <a:r>
              <a:rPr b="1" lang="de" sz="2000">
                <a:solidFill>
                  <a:srgbClr val="015699"/>
                </a:solidFill>
                <a:highlight>
                  <a:schemeClr val="lt1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Diagnóstica - </a:t>
            </a:r>
            <a:r>
              <a:rPr b="1" lang="de" sz="2000">
                <a:solidFill>
                  <a:srgbClr val="015699"/>
                </a:solidFill>
                <a:highlight>
                  <a:srgbClr val="FFFFFF"/>
                </a:highlight>
                <a:latin typeface="Helvetica Neue"/>
                <a:ea typeface="Helvetica Neue"/>
                <a:cs typeface="Helvetica Neue"/>
                <a:sym typeface="Helvetica Neue"/>
              </a:rPr>
              <a:t>PAIC/PROALFA Rondônia 2026</a:t>
            </a:r>
            <a:endParaRPr b="1" i="0" sz="2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7" name="Google Shape;77;p17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1265475" y="166923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7"/>
          <p:cNvSpPr txBox="1"/>
          <p:nvPr/>
        </p:nvSpPr>
        <p:spPr>
          <a:xfrm>
            <a:off x="1863925" y="1631275"/>
            <a:ext cx="6085200" cy="45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1. Atividades e cronograma;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9" name="Google Shape;79;p17"/>
          <p:cNvSpPr txBox="1"/>
          <p:nvPr/>
        </p:nvSpPr>
        <p:spPr>
          <a:xfrm>
            <a:off x="1863775" y="2452175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2. Cartão de Respostas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0" name="Google Shape;80;p17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1265475" y="2450850"/>
            <a:ext cx="378251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1265475" y="3232438"/>
            <a:ext cx="378251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 title="260324HerbyFinalWeb_HerbyLogo.jpg"/>
          <p:cNvPicPr preferRelativeResize="0"/>
          <p:nvPr/>
        </p:nvPicPr>
        <p:blipFill rotWithShape="1">
          <a:blip r:embed="rId4">
            <a:alphaModFix/>
          </a:blip>
          <a:srcRect b="9690" l="0" r="0" t="9690"/>
          <a:stretch/>
        </p:blipFill>
        <p:spPr>
          <a:xfrm>
            <a:off x="40250" y="36075"/>
            <a:ext cx="651853" cy="18655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1863925" y="4053775"/>
            <a:ext cx="6370200" cy="3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 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 envio do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com os dados de matrícula.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" name="Google Shape;84;p17" title="260324HerbyFinalWeb_HerbyLogoCyrcle.jpg"/>
          <p:cNvPicPr preferRelativeResize="0"/>
          <p:nvPr/>
        </p:nvPicPr>
        <p:blipFill rotWithShape="1">
          <a:blip r:embed="rId3">
            <a:alphaModFix/>
          </a:blip>
          <a:srcRect b="160" l="0" r="0" t="150"/>
          <a:stretch/>
        </p:blipFill>
        <p:spPr>
          <a:xfrm>
            <a:off x="1265475" y="4053788"/>
            <a:ext cx="378251" cy="377327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7"/>
          <p:cNvSpPr txBox="1"/>
          <p:nvPr/>
        </p:nvSpPr>
        <p:spPr>
          <a:xfrm>
            <a:off x="1863925" y="3232450"/>
            <a:ext cx="6015900" cy="33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3. </a:t>
            </a:r>
            <a:r>
              <a:rPr b="1" i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</a:t>
            </a:r>
            <a:r>
              <a:rPr b="1" lang="de" sz="16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para o preenchimento de dados de matrícula;</a:t>
            </a:r>
            <a:endParaRPr b="1" sz="1600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 xmlns:ahyp="http://schemas.microsoft.com/office/drawing/2018/hyperlinkcolor">
    <p:bg>
      <p:bgPr>
        <a:solidFill>
          <a:srgbClr val="F3F3F3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7"/>
          <p:cNvSpPr txBox="1"/>
          <p:nvPr/>
        </p:nvSpPr>
        <p:spPr>
          <a:xfrm>
            <a:off x="2283300" y="233175"/>
            <a:ext cx="45774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Source Sans Pro"/>
              <a:buNone/>
            </a:pPr>
            <a:r>
              <a:rPr b="1" lang="de" sz="4000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Obrigado(a)!</a:t>
            </a:r>
            <a:endParaRPr b="1" i="0" sz="4000" u="none" cap="none" strike="noStrike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27"/>
          <p:cNvSpPr txBox="1"/>
          <p:nvPr/>
        </p:nvSpPr>
        <p:spPr>
          <a:xfrm>
            <a:off x="3910200" y="4539150"/>
            <a:ext cx="13236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29292"/>
              </a:buClr>
              <a:buSzPts val="1700"/>
              <a:buFont typeface="Source Sans Pro"/>
              <a:buNone/>
            </a:pPr>
            <a:r>
              <a:rPr b="1" lang="de" sz="1000" u="sng">
                <a:solidFill>
                  <a:srgbClr val="929292"/>
                </a:solidFill>
                <a:latin typeface="Source Sans Pro"/>
                <a:ea typeface="Source Sans Pro"/>
                <a:cs typeface="Source Sans Pro"/>
                <a:sym typeface="Source Sans Pr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www.herbyvision.com</a:t>
            </a:r>
            <a:endParaRPr b="0" i="0" sz="1000" u="none" cap="none" strike="noStrike">
              <a:solidFill>
                <a:srgbClr val="929292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99" name="Google Shape;199;p27">
            <a:hlinkClick r:id="rId3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04750" y="4821536"/>
            <a:ext cx="212823" cy="212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7">
            <a:hlinkClick r:id="rId6"/>
          </p:cNvPr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21447" y="4821758"/>
            <a:ext cx="212826" cy="212618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7"/>
          <p:cNvSpPr/>
          <p:nvPr/>
        </p:nvSpPr>
        <p:spPr>
          <a:xfrm flipH="1" rot="10800000">
            <a:off x="2200800" y="989025"/>
            <a:ext cx="4742400" cy="15900"/>
          </a:xfrm>
          <a:prstGeom prst="rect">
            <a:avLst/>
          </a:prstGeom>
          <a:solidFill>
            <a:srgbClr val="3A5E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27" title="whatsapp2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7501" y="1349551"/>
            <a:ext cx="1641800" cy="164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7"/>
          <p:cNvSpPr/>
          <p:nvPr/>
        </p:nvSpPr>
        <p:spPr>
          <a:xfrm>
            <a:off x="590100" y="3335975"/>
            <a:ext cx="3696600" cy="9516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7"/>
          <p:cNvSpPr txBox="1"/>
          <p:nvPr/>
        </p:nvSpPr>
        <p:spPr>
          <a:xfrm>
            <a:off x="739650" y="3421925"/>
            <a:ext cx="33975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Nosso número de WhatsApp: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(32) - 99847 8737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05" name="Google Shape;205;p27" title="pngeg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800" y="1207250"/>
            <a:ext cx="2512675" cy="1784101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7"/>
          <p:cNvSpPr/>
          <p:nvPr/>
        </p:nvSpPr>
        <p:spPr>
          <a:xfrm>
            <a:off x="5314500" y="3335975"/>
            <a:ext cx="3696600" cy="951600"/>
          </a:xfrm>
          <a:prstGeom prst="rect">
            <a:avLst/>
          </a:prstGeom>
          <a:solidFill>
            <a:srgbClr val="F3F3F3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/>
        </p:nvSpPr>
        <p:spPr>
          <a:xfrm>
            <a:off x="5464050" y="3421925"/>
            <a:ext cx="33975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Nosso e-mail para contato: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700"/>
              <a:buFont typeface="Source Sans Pro"/>
              <a:buNone/>
            </a:pPr>
            <a:r>
              <a:rPr b="1" lang="de">
                <a:solidFill>
                  <a:srgbClr val="015699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contato@herbyvision.com</a:t>
            </a:r>
            <a:endParaRPr b="1">
              <a:solidFill>
                <a:srgbClr val="015699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929292"/>
      </a:dk1>
      <a:lt1>
        <a:srgbClr val="FFFFFF"/>
      </a:lt1>
      <a:dk2>
        <a:srgbClr val="929292"/>
      </a:dk2>
      <a:lt2>
        <a:srgbClr val="494949"/>
      </a:lt2>
      <a:accent1>
        <a:srgbClr val="494949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