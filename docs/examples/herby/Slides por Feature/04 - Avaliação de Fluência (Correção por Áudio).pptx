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hyperlink" Target="http://hby.app/scan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hyperlink" Target="http://hby.app/scan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8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692102" y="1636925"/>
            <a:ext cx="1890024" cy="188539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3067725" y="2109600"/>
            <a:ext cx="5509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lvl="0" rtl="0" algn="l"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3000"/>
              <a:buFont typeface="Helvetica Neue"/>
              <a:buNone/>
            </a:pPr>
            <a:r>
              <a:rPr b="1" lang="de" sz="3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3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7" name="Google Shape;87;p18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15699"/>
              </a:solidFill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5" name="Google Shape;95;p19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/>
          <p:nvPr/>
        </p:nvSpPr>
        <p:spPr>
          <a:xfrm>
            <a:off x="5692063" y="2380950"/>
            <a:ext cx="3226500" cy="22104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1499" y="2560849"/>
            <a:ext cx="3289877" cy="18505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8" name="Google Shape;98;p19"/>
          <p:cNvSpPr txBox="1"/>
          <p:nvPr/>
        </p:nvSpPr>
        <p:spPr>
          <a:xfrm>
            <a:off x="437750" y="918300"/>
            <a:ext cx="48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Sobre o </a:t>
            </a:r>
            <a:r>
              <a:rPr b="1" i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Smartphone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437750" y="1456200"/>
            <a:ext cx="4678500" cy="3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Por que a Herby funciona em qualquer tipo de aparelho, desde que possua câmera e acesso à </a:t>
            </a:r>
            <a:r>
              <a:rPr b="1" i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internet</a:t>
            </a:r>
            <a:r>
              <a:rPr b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?</a:t>
            </a:r>
            <a:endParaRPr b="1" sz="1600">
              <a:solidFill>
                <a:srgbClr val="0156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156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Source Sans Pro"/>
              <a:buAutoNum type="arabicParenR"/>
            </a:pPr>
            <a:r>
              <a:rPr b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Não é preciso baixar aplicativo da loja e por isso podem ser usados dispositivos de qualquer marca e sistema operacional.</a:t>
            </a:r>
            <a:endParaRPr b="1" sz="1600">
              <a:solidFill>
                <a:srgbClr val="0156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Source Sans Pro"/>
              <a:buAutoNum type="arabicParenR"/>
            </a:pPr>
            <a:r>
              <a:rPr b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 resultado é processado em nuvem e por isso não sobrecarrega o funcionamento do aparelho.</a:t>
            </a:r>
            <a:endParaRPr b="1" sz="1600">
              <a:solidFill>
                <a:srgbClr val="0156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15699"/>
              </a:buClr>
              <a:buSzPts val="1600"/>
              <a:buFont typeface="Source Sans Pro"/>
              <a:buAutoNum type="arabicParenR"/>
            </a:pPr>
            <a:r>
              <a:rPr b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Os áudios não ficam armazenados no celular e por isso não sobrecarrega a memória.</a:t>
            </a:r>
            <a:endParaRPr b="1" sz="1600">
              <a:solidFill>
                <a:srgbClr val="0156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7" name="Google Shape;107;p20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437750" y="1140475"/>
            <a:ext cx="48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Correção por Áudio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5882263" y="1602175"/>
            <a:ext cx="2776800" cy="30732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376050" y="1781575"/>
            <a:ext cx="50889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profissional indicado pela escola realizará a aplicação com coleta dos áudios no celular.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4 passos, o Cartão é corrigido e vocês já têm o resultado: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Escanear o QR code (como o cardápio de um restaurante) e clicar no link que irá aparecer.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Selecionar o estudante.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Gravar a avaliação.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Corrigir a avaliação.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939" y="1310975"/>
            <a:ext cx="2353452" cy="313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xmlns:ahyp="http://schemas.microsoft.com/office/drawing/2018/hyperlinkcolor">
    <p:bg>
      <p:bgPr>
        <a:solidFill>
          <a:srgbClr val="F3F3F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9" name="Google Shape;119;p21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1 (ler o QR CODE)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692100" y="2287975"/>
            <a:ext cx="4971300" cy="2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Apontar a câmera do celular para o QR CODE da turma e clicar no link que irá aparecer.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se 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aparecer?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spcBef>
                <a:spcPts val="1000"/>
              </a:spcBef>
              <a:spcAft>
                <a:spcPts val="100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Acessar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 u="sng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hby.app/scan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seu navegador de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internet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realizar o escaneamento direto por lá.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6191300" y="1088825"/>
            <a:ext cx="2675700" cy="3923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7102" y="1365675"/>
            <a:ext cx="1369276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5775" y="989025"/>
            <a:ext cx="2675751" cy="39237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5" name="Google Shape;12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4125" y="1266875"/>
            <a:ext cx="588225" cy="56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/>
          <p:nvPr/>
        </p:nvSpPr>
        <p:spPr>
          <a:xfrm>
            <a:off x="7600075" y="1603000"/>
            <a:ext cx="434700" cy="10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xmlns:ahyp="http://schemas.microsoft.com/office/drawing/2018/hyperlinkcolor">
    <p:bg>
      <p:bgPr>
        <a:solidFill>
          <a:srgbClr val="F3F3F3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4" name="Google Shape;134;p22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1 (ler o QR CODE)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692100" y="2287975"/>
            <a:ext cx="4971300" cy="2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Apontar a câmera do celular para o QR CODE da turma e clicar no link que irá aparecer.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se 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aparecer?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spcBef>
                <a:spcPts val="1000"/>
              </a:spcBef>
              <a:spcAft>
                <a:spcPts val="100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Acessar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 u="sng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hby.app/scan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seu navegador de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internet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realizar o escaneamento direto por lá.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6191300" y="1088825"/>
            <a:ext cx="2675700" cy="3923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7102" y="1365675"/>
            <a:ext cx="1369276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5775" y="989025"/>
            <a:ext cx="2675751" cy="39237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0" name="Google Shape;14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14125" y="1266875"/>
            <a:ext cx="588225" cy="56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90" y="7875"/>
            <a:ext cx="913607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75" y="925500"/>
            <a:ext cx="89535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2425" y="1862200"/>
            <a:ext cx="1817550" cy="1788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/>
          <p:nvPr/>
        </p:nvSpPr>
        <p:spPr>
          <a:xfrm>
            <a:off x="4539050" y="3004050"/>
            <a:ext cx="1817400" cy="33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2" name="Google Shape;152;p23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2 (selecionar o estudante)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692100" y="2233200"/>
            <a:ext cx="497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Após escanear o QR CODE da turma, clicar no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nome do estudante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para iniciar a aplicação.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6831750" y="1027975"/>
            <a:ext cx="2027700" cy="38718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>
            <a:alphaModFix/>
          </a:blip>
          <a:srcRect b="11750" l="0" r="0" t="4322"/>
          <a:stretch/>
        </p:blipFill>
        <p:spPr>
          <a:xfrm>
            <a:off x="6655425" y="989025"/>
            <a:ext cx="2101075" cy="38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57" name="Google Shape;15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0251" y="3354925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5" name="Google Shape;165;p24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4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3 (testar áudio)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692100" y="2135575"/>
            <a:ext cx="49713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Confirme que o estudante está pronto para começar a gravação clicando 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Entendido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6815775" y="1040125"/>
            <a:ext cx="2001600" cy="39189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69" name="Google Shape;169;p24"/>
          <p:cNvPicPr preferRelativeResize="0"/>
          <p:nvPr/>
        </p:nvPicPr>
        <p:blipFill rotWithShape="1">
          <a:blip r:embed="rId3">
            <a:alphaModFix/>
          </a:blip>
          <a:srcRect b="9589" l="0" r="0" t="6292"/>
          <a:stretch/>
        </p:blipFill>
        <p:spPr>
          <a:xfrm>
            <a:off x="6613075" y="950800"/>
            <a:ext cx="2142925" cy="39187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0" name="Google Shape;17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4176" y="2768725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6075" y="3497375"/>
            <a:ext cx="460126" cy="1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5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Google Shape;179;p25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5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3 (testar áudio)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692100" y="2135575"/>
            <a:ext cx="497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Clique no botão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Testar áudio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para verificar se o ambiente está adequado para iniciar a avaliação.</a:t>
            </a:r>
            <a:endParaRPr b="1" sz="1600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6700200" y="856525"/>
            <a:ext cx="1834200" cy="39873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183" name="Google Shape;183;p25"/>
          <p:cNvGrpSpPr/>
          <p:nvPr/>
        </p:nvGrpSpPr>
        <p:grpSpPr>
          <a:xfrm>
            <a:off x="6629475" y="768350"/>
            <a:ext cx="1834199" cy="3976200"/>
            <a:chOff x="6758400" y="958850"/>
            <a:chExt cx="1834199" cy="3976200"/>
          </a:xfrm>
        </p:grpSpPr>
        <p:pic>
          <p:nvPicPr>
            <p:cNvPr id="184" name="Google Shape;18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58400" y="958850"/>
              <a:ext cx="1834199" cy="397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85" name="Google Shape;185;p25"/>
            <p:cNvPicPr preferRelativeResize="0"/>
            <p:nvPr/>
          </p:nvPicPr>
          <p:blipFill rotWithShape="1">
            <a:blip r:embed="rId4">
              <a:alphaModFix/>
            </a:blip>
            <a:srcRect b="29007" l="0" r="0" t="62945"/>
            <a:stretch/>
          </p:blipFill>
          <p:spPr>
            <a:xfrm>
              <a:off x="6777550" y="3458575"/>
              <a:ext cx="1795901" cy="31332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pic>
        <p:nvPicPr>
          <p:cNvPr id="186" name="Google Shape;18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0276" y="3201700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31875" y="3295288"/>
            <a:ext cx="559650" cy="27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5" name="Google Shape;195;p26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3 (testar áudio)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692100" y="2135575"/>
            <a:ext cx="497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Peça ao estudante que diga seu nome ao c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licar 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Começar a gravar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 Finalize a gravação e aguarde o feedback.</a:t>
            </a:r>
            <a:endParaRPr b="1" sz="1600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6743425" y="958850"/>
            <a:ext cx="1834200" cy="39873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99" name="Google Shape;199;p26"/>
          <p:cNvPicPr preferRelativeResize="0"/>
          <p:nvPr/>
        </p:nvPicPr>
        <p:blipFill rotWithShape="1">
          <a:blip r:embed="rId3">
            <a:alphaModFix/>
          </a:blip>
          <a:srcRect b="5740" l="0" r="0" t="0"/>
          <a:stretch/>
        </p:blipFill>
        <p:spPr>
          <a:xfrm>
            <a:off x="6540729" y="839002"/>
            <a:ext cx="1951172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00" name="Google Shape;20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1826" y="3154075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7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7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8" name="Google Shape;208;p27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3 (testar áudio)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692100" y="2135575"/>
            <a:ext cx="4971300" cy="24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Quando receber um feedback positivo sobre a gravação do áudio, pode fechar a janela e iniciar o teste.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muito importante estar em um ambiente silencioso, com o microfone próximo ao estudante e as notificações do celular desabilitadas.</a:t>
            </a:r>
            <a:endParaRPr b="1" sz="16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6743425" y="958850"/>
            <a:ext cx="1834200" cy="39873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12" name="Google Shape;212;p27"/>
          <p:cNvPicPr preferRelativeResize="0"/>
          <p:nvPr/>
        </p:nvPicPr>
        <p:blipFill rotWithShape="1">
          <a:blip r:embed="rId3">
            <a:alphaModFix/>
          </a:blip>
          <a:srcRect b="4816" l="0" r="0" t="0"/>
          <a:stretch/>
        </p:blipFill>
        <p:spPr>
          <a:xfrm>
            <a:off x="6531144" y="860925"/>
            <a:ext cx="1932182" cy="398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1826" y="3268375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23878" y="2065475"/>
            <a:ext cx="320023" cy="27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8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8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2" name="Google Shape;222;p28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4 (gravar a avaliação)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692100" y="2135575"/>
            <a:ext cx="4971300" cy="16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Clique no botão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Começar a Gravar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assim o estudante pode dar início a leitura da lista de palavras.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6831750" y="1027975"/>
            <a:ext cx="1834200" cy="39873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26" name="Google Shape;226;p28"/>
          <p:cNvGrpSpPr/>
          <p:nvPr/>
        </p:nvGrpSpPr>
        <p:grpSpPr>
          <a:xfrm>
            <a:off x="6758400" y="958850"/>
            <a:ext cx="1834199" cy="3976200"/>
            <a:chOff x="6758400" y="958850"/>
            <a:chExt cx="1834199" cy="3976200"/>
          </a:xfrm>
        </p:grpSpPr>
        <p:pic>
          <p:nvPicPr>
            <p:cNvPr id="227" name="Google Shape;22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58400" y="958850"/>
              <a:ext cx="1834199" cy="397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8" name="Google Shape;228;p28"/>
            <p:cNvPicPr preferRelativeResize="0"/>
            <p:nvPr/>
          </p:nvPicPr>
          <p:blipFill rotWithShape="1">
            <a:blip r:embed="rId4">
              <a:alphaModFix/>
            </a:blip>
            <a:srcRect b="29007" l="0" r="0" t="62945"/>
            <a:stretch/>
          </p:blipFill>
          <p:spPr>
            <a:xfrm>
              <a:off x="6777550" y="3458575"/>
              <a:ext cx="1795901" cy="31332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pic>
        <p:nvPicPr>
          <p:cNvPr id="229" name="Google Shape;22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0151" y="3154075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9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9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7" name="Google Shape;237;p29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9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4 (gravar a avaliação)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692100" y="2135575"/>
            <a:ext cx="4971300" cy="1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Assim que o estudante terminar a leitura, clique no ícone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Leitura Finalizada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6831750" y="1027975"/>
            <a:ext cx="1892700" cy="39873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41" name="Google Shape;24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0151" y="3057850"/>
            <a:ext cx="951600" cy="461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29"/>
          <p:cNvGrpSpPr/>
          <p:nvPr/>
        </p:nvGrpSpPr>
        <p:grpSpPr>
          <a:xfrm>
            <a:off x="6772625" y="916625"/>
            <a:ext cx="1834199" cy="3976200"/>
            <a:chOff x="6772625" y="916625"/>
            <a:chExt cx="1834199" cy="3976200"/>
          </a:xfrm>
        </p:grpSpPr>
        <p:grpSp>
          <p:nvGrpSpPr>
            <p:cNvPr id="243" name="Google Shape;243;p29"/>
            <p:cNvGrpSpPr/>
            <p:nvPr/>
          </p:nvGrpSpPr>
          <p:grpSpPr>
            <a:xfrm>
              <a:off x="6772625" y="916625"/>
              <a:ext cx="1834199" cy="3976200"/>
              <a:chOff x="6831750" y="916625"/>
              <a:chExt cx="1834199" cy="3976200"/>
            </a:xfrm>
          </p:grpSpPr>
          <p:pic>
            <p:nvPicPr>
              <p:cNvPr id="244" name="Google Shape;244;p2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6831750" y="916625"/>
                <a:ext cx="1834199" cy="3976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</p:pic>
          <p:pic>
            <p:nvPicPr>
              <p:cNvPr id="245" name="Google Shape;245;p29"/>
              <p:cNvPicPr preferRelativeResize="0"/>
              <p:nvPr/>
            </p:nvPicPr>
            <p:blipFill rotWithShape="1">
              <a:blip r:embed="rId5">
                <a:alphaModFix/>
              </a:blip>
              <a:srcRect b="34976" l="0" r="0" t="46633"/>
              <a:stretch/>
            </p:blipFill>
            <p:spPr>
              <a:xfrm>
                <a:off x="6831750" y="2894525"/>
                <a:ext cx="1834199" cy="73080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pic>
        </p:grpSp>
        <p:pic>
          <p:nvPicPr>
            <p:cNvPr id="246" name="Google Shape;246;p29"/>
            <p:cNvPicPr preferRelativeResize="0"/>
            <p:nvPr/>
          </p:nvPicPr>
          <p:blipFill rotWithShape="1">
            <a:blip r:embed="rId6">
              <a:alphaModFix/>
            </a:blip>
            <a:srcRect b="29129" l="0" r="0" t="62945"/>
            <a:stretch/>
          </p:blipFill>
          <p:spPr>
            <a:xfrm>
              <a:off x="6791775" y="3410950"/>
              <a:ext cx="1795901" cy="30857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0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0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4" name="Google Shape;254;p30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0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Atenção!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6" name="Google Shape;256;p30"/>
          <p:cNvSpPr txBox="1"/>
          <p:nvPr/>
        </p:nvSpPr>
        <p:spPr>
          <a:xfrm>
            <a:off x="692100" y="2135575"/>
            <a:ext cx="49713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Caso o áudio tenha menos que 4 segundos de duração, a plataforma exibe um alerta e a gravação poderá ser realizada novamente.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6709150" y="1025975"/>
            <a:ext cx="1832700" cy="37971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58" name="Google Shape;2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7569" y="845450"/>
            <a:ext cx="1798381" cy="3898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59" name="Google Shape;25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3401" y="3840725"/>
            <a:ext cx="9516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0"/>
          <p:cNvSpPr/>
          <p:nvPr/>
        </p:nvSpPr>
        <p:spPr>
          <a:xfrm>
            <a:off x="6658475" y="3640150"/>
            <a:ext cx="1798500" cy="9459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1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1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8" name="Google Shape;268;p31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1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Atenção!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31"/>
          <p:cNvSpPr txBox="1"/>
          <p:nvPr/>
        </p:nvSpPr>
        <p:spPr>
          <a:xfrm>
            <a:off x="692100" y="2135575"/>
            <a:ext cx="49713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Caso não seja detectada voz no áudio, a plataforma irá exibir um alerta e será possível refazer a gravação.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6709150" y="1025975"/>
            <a:ext cx="1832700" cy="37971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72" name="Google Shape;27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3401" y="3840725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8475" y="835786"/>
            <a:ext cx="1798500" cy="38976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74" name="Google Shape;274;p31"/>
          <p:cNvSpPr/>
          <p:nvPr/>
        </p:nvSpPr>
        <p:spPr>
          <a:xfrm>
            <a:off x="6658475" y="3640150"/>
            <a:ext cx="1798500" cy="9459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2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2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2" name="Google Shape;282;p32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2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4 (gravar a avaliação)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4" name="Google Shape;284;p32"/>
          <p:cNvSpPr txBox="1"/>
          <p:nvPr/>
        </p:nvSpPr>
        <p:spPr>
          <a:xfrm>
            <a:off x="692100" y="2135575"/>
            <a:ext cx="4971300" cy="1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Agora é só repetir o processo para a leitura do pequeno ”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texto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5" name="Google Shape;285;p32"/>
          <p:cNvSpPr/>
          <p:nvPr/>
        </p:nvSpPr>
        <p:spPr>
          <a:xfrm>
            <a:off x="6874000" y="900925"/>
            <a:ext cx="1884300" cy="39873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86" name="Google Shape;286;p32"/>
          <p:cNvGrpSpPr/>
          <p:nvPr/>
        </p:nvGrpSpPr>
        <p:grpSpPr>
          <a:xfrm>
            <a:off x="6797650" y="809125"/>
            <a:ext cx="1845351" cy="4000732"/>
            <a:chOff x="6814525" y="897225"/>
            <a:chExt cx="1845351" cy="4000732"/>
          </a:xfrm>
        </p:grpSpPr>
        <p:pic>
          <p:nvPicPr>
            <p:cNvPr id="287" name="Google Shape;2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14525" y="897225"/>
              <a:ext cx="1845351" cy="40007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88" name="Google Shape;288;p32"/>
            <p:cNvPicPr preferRelativeResize="0"/>
            <p:nvPr/>
          </p:nvPicPr>
          <p:blipFill rotWithShape="1">
            <a:blip r:embed="rId4">
              <a:alphaModFix/>
            </a:blip>
            <a:srcRect b="31502" l="0" r="0" t="50230"/>
            <a:stretch/>
          </p:blipFill>
          <p:spPr>
            <a:xfrm>
              <a:off x="6820100" y="2804737"/>
              <a:ext cx="1834199" cy="72632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pic>
        <p:nvPicPr>
          <p:cNvPr id="289" name="Google Shape;28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6051" y="2916500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3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3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3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7" name="Google Shape;297;p33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3"/>
          <p:cNvSpPr txBox="1"/>
          <p:nvPr/>
        </p:nvSpPr>
        <p:spPr>
          <a:xfrm>
            <a:off x="692100" y="98902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5 (corrigir a avaliação)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9" name="Google Shape;299;p33"/>
          <p:cNvSpPr txBox="1"/>
          <p:nvPr/>
        </p:nvSpPr>
        <p:spPr>
          <a:xfrm>
            <a:off x="692100" y="1687950"/>
            <a:ext cx="49713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Agora você pode ouvir novamente cada item da prova de fluência, e selecionar o nível que o estudante se encontra.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Depois é só clicar no botão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Salvar Nível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0" name="Google Shape;300;p33"/>
          <p:cNvSpPr/>
          <p:nvPr/>
        </p:nvSpPr>
        <p:spPr>
          <a:xfrm>
            <a:off x="6240575" y="989025"/>
            <a:ext cx="1884300" cy="39873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01" name="Google Shape;30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2000" y="810725"/>
            <a:ext cx="1872625" cy="405985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02" name="Google Shape;30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85701" y="3838925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4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4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10" name="Google Shape;310;p34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4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Marcação de ausência ou transferência!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2" name="Google Shape;312;p34"/>
          <p:cNvSpPr txBox="1"/>
          <p:nvPr/>
        </p:nvSpPr>
        <p:spPr>
          <a:xfrm>
            <a:off x="692100" y="2135575"/>
            <a:ext cx="4971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Caso o aluno não esteja presente no dia da aplicação ou tenha sido transferido, basta selecionar seu nome na lista e, em seguida, clicar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 botão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status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3" name="Google Shape;313;p34"/>
          <p:cNvSpPr/>
          <p:nvPr/>
        </p:nvSpPr>
        <p:spPr>
          <a:xfrm>
            <a:off x="6865550" y="1169550"/>
            <a:ext cx="1884300" cy="37971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314" name="Google Shape;314;p34"/>
          <p:cNvGrpSpPr/>
          <p:nvPr/>
        </p:nvGrpSpPr>
        <p:grpSpPr>
          <a:xfrm>
            <a:off x="6806025" y="870450"/>
            <a:ext cx="1834199" cy="3976200"/>
            <a:chOff x="6758400" y="958850"/>
            <a:chExt cx="1834199" cy="3976200"/>
          </a:xfrm>
        </p:grpSpPr>
        <p:pic>
          <p:nvPicPr>
            <p:cNvPr id="315" name="Google Shape;315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58400" y="958850"/>
              <a:ext cx="1834199" cy="397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316" name="Google Shape;316;p34"/>
            <p:cNvPicPr preferRelativeResize="0"/>
            <p:nvPr/>
          </p:nvPicPr>
          <p:blipFill rotWithShape="1">
            <a:blip r:embed="rId4">
              <a:alphaModFix/>
            </a:blip>
            <a:srcRect b="29007" l="0" r="0" t="62945"/>
            <a:stretch/>
          </p:blipFill>
          <p:spPr>
            <a:xfrm>
              <a:off x="6777550" y="3458575"/>
              <a:ext cx="1795901" cy="31332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317" name="Google Shape;317;p34"/>
          <p:cNvSpPr/>
          <p:nvPr/>
        </p:nvSpPr>
        <p:spPr>
          <a:xfrm>
            <a:off x="7651800" y="3409050"/>
            <a:ext cx="396900" cy="2280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7521537" y="3817250"/>
            <a:ext cx="657425" cy="39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5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5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6" name="Google Shape;326;p35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5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Marcação de ausência ou transferência!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8" name="Google Shape;328;p35"/>
          <p:cNvSpPr txBox="1"/>
          <p:nvPr/>
        </p:nvSpPr>
        <p:spPr>
          <a:xfrm>
            <a:off x="692100" y="2135575"/>
            <a:ext cx="497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Selecione a opção desejada e a página retornará automaticamente para a seleção de um novo estudante.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9" name="Google Shape;329;p35"/>
          <p:cNvSpPr/>
          <p:nvPr/>
        </p:nvSpPr>
        <p:spPr>
          <a:xfrm>
            <a:off x="6865550" y="1169550"/>
            <a:ext cx="1884300" cy="37971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30" name="Google Shape;330;p35"/>
          <p:cNvPicPr preferRelativeResize="0"/>
          <p:nvPr/>
        </p:nvPicPr>
        <p:blipFill rotWithShape="1">
          <a:blip r:embed="rId3">
            <a:alphaModFix/>
          </a:blip>
          <a:srcRect b="4626" l="0" r="0" t="0"/>
          <a:stretch/>
        </p:blipFill>
        <p:spPr>
          <a:xfrm>
            <a:off x="6705600" y="868900"/>
            <a:ext cx="1929174" cy="398885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6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6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8" name="Google Shape;338;p36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6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Atenção!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0" name="Google Shape;340;p36"/>
          <p:cNvSpPr txBox="1"/>
          <p:nvPr/>
        </p:nvSpPr>
        <p:spPr>
          <a:xfrm>
            <a:off x="692100" y="2135575"/>
            <a:ext cx="4971300" cy="15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Caso a aplicação seja interrompida por qualquer motivo, você poderá retomar de onde parou, selecionando novamente o estudante da lista e o item desejado. 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1" name="Google Shape;341;p36"/>
          <p:cNvSpPr/>
          <p:nvPr/>
        </p:nvSpPr>
        <p:spPr>
          <a:xfrm>
            <a:off x="6865550" y="1169550"/>
            <a:ext cx="1884300" cy="37971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42" name="Google Shape;342;p36"/>
          <p:cNvPicPr preferRelativeResize="0"/>
          <p:nvPr/>
        </p:nvPicPr>
        <p:blipFill rotWithShape="1">
          <a:blip r:embed="rId3">
            <a:alphaModFix/>
          </a:blip>
          <a:srcRect b="11750" l="0" r="0" t="4322"/>
          <a:stretch/>
        </p:blipFill>
        <p:spPr>
          <a:xfrm>
            <a:off x="6570950" y="1031250"/>
            <a:ext cx="2101075" cy="38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7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7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0" name="Google Shape;350;p37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7"/>
          <p:cNvSpPr txBox="1"/>
          <p:nvPr/>
        </p:nvSpPr>
        <p:spPr>
          <a:xfrm>
            <a:off x="527950" y="988075"/>
            <a:ext cx="47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Pronto!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2" name="Google Shape;352;p37"/>
          <p:cNvSpPr txBox="1"/>
          <p:nvPr/>
        </p:nvSpPr>
        <p:spPr>
          <a:xfrm>
            <a:off x="527950" y="1833750"/>
            <a:ext cx="50853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Ao finalizar a gravação dos áudios do estudante, um ícone com a identificação do seu nível, atribuído pelo professor, irá aparecer ao lado do nome.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continuar a avaliação do próximo estudante, basta selecioná-lo na lista que irá aparecer.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há mais a necessidade de ler o QR Code para cada estudante da turma.</a:t>
            </a:r>
            <a:endParaRPr b="1" sz="16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600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3" name="Google Shape;353;p37"/>
          <p:cNvSpPr/>
          <p:nvPr/>
        </p:nvSpPr>
        <p:spPr>
          <a:xfrm>
            <a:off x="6798000" y="1060425"/>
            <a:ext cx="1884300" cy="38229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54" name="Google Shape;354;p37"/>
          <p:cNvPicPr preferRelativeResize="0"/>
          <p:nvPr/>
        </p:nvPicPr>
        <p:blipFill rotWithShape="1">
          <a:blip r:embed="rId3">
            <a:alphaModFix/>
          </a:blip>
          <a:srcRect b="11750" l="0" r="0" t="4322"/>
          <a:stretch/>
        </p:blipFill>
        <p:spPr>
          <a:xfrm>
            <a:off x="6478075" y="978275"/>
            <a:ext cx="2101075" cy="38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55" name="Google Shape;355;p37"/>
          <p:cNvSpPr/>
          <p:nvPr/>
        </p:nvSpPr>
        <p:spPr>
          <a:xfrm>
            <a:off x="6739750" y="1795900"/>
            <a:ext cx="329400" cy="26634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8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8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8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3" name="Google Shape;363;p38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8"/>
          <p:cNvSpPr txBox="1"/>
          <p:nvPr/>
        </p:nvSpPr>
        <p:spPr>
          <a:xfrm>
            <a:off x="527950" y="988075"/>
            <a:ext cx="47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Atenção</a:t>
            </a: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!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5" name="Google Shape;365;p38"/>
          <p:cNvSpPr txBox="1"/>
          <p:nvPr/>
        </p:nvSpPr>
        <p:spPr>
          <a:xfrm>
            <a:off x="527950" y="1833750"/>
            <a:ext cx="5085300" cy="24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Nossa IA realiza uma correção de áudio em paralelo ao professor. Para visualizar esta correção, você deve atualizar a página e verificar logo abaixo do nome do estudante.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o nível atribuído pela IA e pelo professor forem diferentes, o nível da IA aparecerá em vermelho.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nível marcado pelo professor será considerado na nota do estudante.</a:t>
            </a:r>
            <a:endParaRPr b="1" sz="16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6" name="Google Shape;366;p38"/>
          <p:cNvSpPr/>
          <p:nvPr/>
        </p:nvSpPr>
        <p:spPr>
          <a:xfrm>
            <a:off x="6798000" y="1060425"/>
            <a:ext cx="1884300" cy="38229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67" name="Google Shape;367;p38"/>
          <p:cNvPicPr preferRelativeResize="0"/>
          <p:nvPr/>
        </p:nvPicPr>
        <p:blipFill rotWithShape="1">
          <a:blip r:embed="rId3">
            <a:alphaModFix/>
          </a:blip>
          <a:srcRect b="11750" l="0" r="0" t="4322"/>
          <a:stretch/>
        </p:blipFill>
        <p:spPr>
          <a:xfrm>
            <a:off x="6478075" y="978275"/>
            <a:ext cx="2101075" cy="38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68" name="Google Shape;368;p38"/>
          <p:cNvSpPr/>
          <p:nvPr/>
        </p:nvSpPr>
        <p:spPr>
          <a:xfrm>
            <a:off x="6798000" y="3164125"/>
            <a:ext cx="1242300" cy="2280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9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9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9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76" name="Google Shape;376;p39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9"/>
          <p:cNvSpPr txBox="1"/>
          <p:nvPr/>
        </p:nvSpPr>
        <p:spPr>
          <a:xfrm>
            <a:off x="527950" y="2052075"/>
            <a:ext cx="8103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700"/>
              <a:buFont typeface="Helvetica Neue"/>
              <a:buAutoNum type="arabicParenR"/>
            </a:pPr>
            <a:r>
              <a:rPr b="1" lang="de" sz="17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Verifique se a gravação de todos os itens foi realizada antes de passar para o próximo estudante.</a:t>
            </a:r>
            <a:endParaRPr b="1" sz="17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just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700"/>
              <a:buFont typeface="Helvetica Neue"/>
              <a:buAutoNum type="arabicParenR"/>
            </a:pPr>
            <a:r>
              <a:rPr b="1" lang="de" sz="17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gravação deve ser em espaço silencioso.</a:t>
            </a:r>
            <a:endParaRPr b="1" sz="17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just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700"/>
              <a:buFont typeface="Helvetica Neue"/>
              <a:buAutoNum type="arabicParenR"/>
            </a:pPr>
            <a:r>
              <a:rPr b="1" lang="de" sz="17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turma possui um único QR CODE. Ele será utilizado para todos os estudantes da turma.</a:t>
            </a:r>
            <a:endParaRPr b="1" sz="17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just">
              <a:spcBef>
                <a:spcPts val="1000"/>
              </a:spcBef>
              <a:spcAft>
                <a:spcPts val="1000"/>
              </a:spcAft>
              <a:buClr>
                <a:srgbClr val="3A5EA8"/>
              </a:buClr>
              <a:buSzPts val="1700"/>
              <a:buFont typeface="Helvetica Neue"/>
              <a:buAutoNum type="arabicParenR"/>
            </a:pPr>
            <a:r>
              <a:rPr b="1" lang="de" sz="17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Antes da aplicação, Conectar o celular à internet e colocá-lo no modo “</a:t>
            </a:r>
            <a:r>
              <a:rPr b="1" lang="de" sz="17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perturbe</a:t>
            </a:r>
            <a:r>
              <a:rPr b="1" lang="de" sz="17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endParaRPr b="1" sz="17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8" name="Google Shape;378;p39"/>
          <p:cNvSpPr txBox="1"/>
          <p:nvPr/>
        </p:nvSpPr>
        <p:spPr>
          <a:xfrm>
            <a:off x="527950" y="1239000"/>
            <a:ext cx="47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Importante!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970160" y="330853"/>
            <a:ext cx="3458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8168500" y="380350"/>
            <a:ext cx="79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de" sz="16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Herby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12850" y="1027575"/>
            <a:ext cx="5352600" cy="14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50">
                <a:latin typeface="Source Sans Pro"/>
                <a:ea typeface="Source Sans Pro"/>
                <a:cs typeface="Source Sans Pro"/>
                <a:sym typeface="Source Sans Pro"/>
              </a:rPr>
              <a:t>Passo 3 (gravar a avaliação)</a:t>
            </a:r>
            <a:endParaRPr b="1" sz="225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200"/>
              </a:spcBef>
              <a:spcAft>
                <a:spcPts val="3200"/>
              </a:spcAft>
              <a:buNone/>
            </a:pPr>
            <a:r>
              <a:rPr lang="de" sz="1600">
                <a:latin typeface="Source Sans Pro"/>
                <a:ea typeface="Source Sans Pro"/>
                <a:cs typeface="Source Sans Pro"/>
                <a:sym typeface="Source Sans Pro"/>
              </a:rPr>
              <a:t>Confirme que o estudante está pronto para começar a gravação clicando em “Entendido”</a:t>
            </a:r>
            <a:endParaRPr sz="16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6" name="Google Shape;106;p20"/>
          <p:cNvCxnSpPr/>
          <p:nvPr/>
        </p:nvCxnSpPr>
        <p:spPr>
          <a:xfrm>
            <a:off x="312839" y="443495"/>
            <a:ext cx="5994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07" name="Google Shape;107;p20"/>
          <p:cNvSpPr txBox="1"/>
          <p:nvPr/>
        </p:nvSpPr>
        <p:spPr>
          <a:xfrm>
            <a:off x="968675" y="178450"/>
            <a:ext cx="60357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7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Avaliação de Fluência</a:t>
            </a:r>
            <a:endParaRPr b="1" sz="17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" name="Google Shape;108;p20"/>
          <p:cNvSpPr/>
          <p:nvPr/>
        </p:nvSpPr>
        <p:spPr>
          <a:xfrm rot="10800000">
            <a:off x="7765900" y="3146030"/>
            <a:ext cx="402600" cy="18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73351" y="619444"/>
            <a:ext cx="1918850" cy="417143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/>
        </p:nvSpPr>
        <p:spPr>
          <a:xfrm>
            <a:off x="970160" y="330853"/>
            <a:ext cx="3458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8168500" y="380350"/>
            <a:ext cx="79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de" sz="16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Herby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312850" y="1027575"/>
            <a:ext cx="53526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50">
                <a:latin typeface="Source Sans Pro"/>
                <a:ea typeface="Source Sans Pro"/>
                <a:cs typeface="Source Sans Pro"/>
                <a:sym typeface="Source Sans Pro"/>
              </a:rPr>
              <a:t>Pronto!</a:t>
            </a:r>
            <a:endParaRPr b="1" sz="225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rPr lang="de" sz="1600">
                <a:latin typeface="Source Sans Pro"/>
                <a:ea typeface="Source Sans Pro"/>
                <a:cs typeface="Source Sans Pro"/>
                <a:sym typeface="Source Sans Pro"/>
              </a:rPr>
              <a:t>Ao finalizar a gravação dos áudios do estudante, um ícone check irá aparecer ao lado do nome.</a:t>
            </a:r>
            <a:endParaRPr sz="16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rPr lang="de" sz="1600">
                <a:latin typeface="Source Sans Pro"/>
                <a:ea typeface="Source Sans Pro"/>
                <a:cs typeface="Source Sans Pro"/>
                <a:sym typeface="Source Sans Pro"/>
              </a:rPr>
              <a:t>Para continuar a avaliação do próximo estudante, basta selecioná-lo na lista que irá aparecer.</a:t>
            </a:r>
            <a:endParaRPr sz="16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200"/>
              </a:spcBef>
              <a:spcAft>
                <a:spcPts val="3200"/>
              </a:spcAft>
              <a:buNone/>
            </a:pPr>
            <a:r>
              <a:rPr b="1" lang="de" sz="1600">
                <a:latin typeface="Source Sans Pro"/>
                <a:ea typeface="Source Sans Pro"/>
                <a:cs typeface="Source Sans Pro"/>
                <a:sym typeface="Source Sans Pro"/>
              </a:rPr>
              <a:t>Não há mais a </a:t>
            </a:r>
            <a:r>
              <a:rPr b="1" lang="de" sz="1600">
                <a:latin typeface="Source Sans Pro"/>
                <a:ea typeface="Source Sans Pro"/>
                <a:cs typeface="Source Sans Pro"/>
                <a:sym typeface="Source Sans Pro"/>
              </a:rPr>
              <a:t>necessidade de ler o QR Code para cada estudante da turma</a:t>
            </a:r>
            <a:endParaRPr sz="16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69" name="Google Shape;169;p26"/>
          <p:cNvCxnSpPr/>
          <p:nvPr/>
        </p:nvCxnSpPr>
        <p:spPr>
          <a:xfrm>
            <a:off x="312839" y="443495"/>
            <a:ext cx="5994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70" name="Google Shape;170;p26"/>
          <p:cNvSpPr txBox="1"/>
          <p:nvPr/>
        </p:nvSpPr>
        <p:spPr>
          <a:xfrm>
            <a:off x="968675" y="178450"/>
            <a:ext cx="60357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7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Avaliação de Fluência</a:t>
            </a:r>
            <a:endParaRPr b="1" sz="17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7801" y="708550"/>
            <a:ext cx="1955075" cy="42501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