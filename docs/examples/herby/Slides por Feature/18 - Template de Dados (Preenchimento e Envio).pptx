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hyperlink" Target="https://docs.google.com/spreadsheets/d/1FZi8DrgjNUPo9mvHq13gQWXs-pqD02nx/edit?usp=drive_link&amp;ouid=110608327084149723324&amp;rtpof=true&amp;sd=tru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574225" y="626375"/>
            <a:ext cx="1069500" cy="666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1794475" y="3946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Cartão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4225" y="1269725"/>
            <a:ext cx="3997775" cy="3486428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r="3600000" dist="123825">
              <a:srgbClr val="333333">
                <a:alpha val="24000"/>
              </a:srgbClr>
            </a:outerShdw>
          </a:effectLst>
        </p:spPr>
      </p:pic>
      <p:sp>
        <p:nvSpPr>
          <p:cNvPr id="103" name="Google Shape;103;p19"/>
          <p:cNvSpPr/>
          <p:nvPr/>
        </p:nvSpPr>
        <p:spPr>
          <a:xfrm>
            <a:off x="2917800" y="1649225"/>
            <a:ext cx="1211100" cy="69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4836925" y="2288625"/>
            <a:ext cx="3997800" cy="12669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731425" y="1269725"/>
            <a:ext cx="1887600" cy="3795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5089525" y="2412375"/>
            <a:ext cx="3492600" cy="10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</a:t>
            </a:r>
            <a:r>
              <a:rPr b="1" i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precisa ser preenchido corretamente, para que seja possível 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constituir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os cartões de respostas para a avaliação.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1602675" y="2161750"/>
            <a:ext cx="1283100" cy="22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/>
          <p:nvPr/>
        </p:nvSpPr>
        <p:spPr>
          <a:xfrm>
            <a:off x="574225" y="626375"/>
            <a:ext cx="1069500" cy="666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1794475" y="3946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r>
              <a:rPr b="1" i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Template</a:t>
            </a: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para o preenchimento de Dados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 rotWithShape="1">
          <a:blip r:embed="rId2">
            <a:alphaModFix/>
          </a:blip>
          <a:srcRect b="0" l="1616" r="2212" t="0"/>
          <a:stretch/>
        </p:blipFill>
        <p:spPr>
          <a:xfrm>
            <a:off x="313225" y="1450088"/>
            <a:ext cx="8517601" cy="1715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17" name="Google Shape;117;p20"/>
          <p:cNvSpPr/>
          <p:nvPr/>
        </p:nvSpPr>
        <p:spPr>
          <a:xfrm>
            <a:off x="313225" y="2025438"/>
            <a:ext cx="8517600" cy="207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0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/>
          <p:nvPr/>
        </p:nvSpPr>
        <p:spPr>
          <a:xfrm>
            <a:off x="313225" y="3691000"/>
            <a:ext cx="8517600" cy="9255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470850" y="3754900"/>
            <a:ext cx="82023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Todas as colunas do </a:t>
            </a:r>
            <a:r>
              <a:rPr b="1" i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devem ser mantidas, conforme o exemplo em destaque. Os campos que não tiverem dados para preenchimento, devem ser deixados em branco.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574225" y="626375"/>
            <a:ext cx="1069500" cy="666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1794475" y="3946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Dicionário dos </a:t>
            </a: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Dados do </a:t>
            </a:r>
            <a:r>
              <a:rPr b="1" i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Template</a:t>
            </a:r>
            <a:endParaRPr b="1" i="1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 rotWithShape="1">
          <a:blip r:embed="rId2">
            <a:alphaModFix/>
          </a:blip>
          <a:srcRect b="15449" l="1993" r="3533" t="588"/>
          <a:stretch/>
        </p:blipFill>
        <p:spPr>
          <a:xfrm>
            <a:off x="471925" y="1065225"/>
            <a:ext cx="8195000" cy="2809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" name="Google Shape;129;p21"/>
          <p:cNvSpPr/>
          <p:nvPr/>
        </p:nvSpPr>
        <p:spPr>
          <a:xfrm>
            <a:off x="5277175" y="1461775"/>
            <a:ext cx="1376400" cy="2413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471925" y="4056400"/>
            <a:ext cx="8195100" cy="9255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1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660625" y="4126000"/>
            <a:ext cx="78174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 caso de dúvida, consulte o Dicionário dos Dados, onde será possível identificar qual é a informação que está sendo solicitada e os dados que são ou não obrigatórios para preenchimento.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574225" y="626375"/>
            <a:ext cx="1069500" cy="666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 txBox="1"/>
          <p:nvPr/>
        </p:nvSpPr>
        <p:spPr>
          <a:xfrm>
            <a:off x="1794475" y="3946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Localizando o Dicionário dos Dados</a:t>
            </a:r>
            <a:endParaRPr b="1" i="1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5076675" y="2424725"/>
            <a:ext cx="3696600" cy="9516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2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/>
          <p:nvPr/>
        </p:nvSpPr>
        <p:spPr>
          <a:xfrm>
            <a:off x="5226225" y="2510675"/>
            <a:ext cx="33975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Dicionário dos Dados está disponível na segunda aba do </a:t>
            </a:r>
            <a:r>
              <a:rPr b="1" i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225" y="1050750"/>
            <a:ext cx="4112175" cy="36995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44" name="Google Shape;144;p22"/>
          <p:cNvSpPr/>
          <p:nvPr/>
        </p:nvSpPr>
        <p:spPr>
          <a:xfrm>
            <a:off x="1234750" y="4563750"/>
            <a:ext cx="880800" cy="18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/>
          <p:nvPr/>
        </p:nvSpPr>
        <p:spPr>
          <a:xfrm>
            <a:off x="574225" y="626375"/>
            <a:ext cx="1069500" cy="666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1794475" y="3946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Acesso ao </a:t>
            </a:r>
            <a:r>
              <a:rPr b="1" i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Template</a:t>
            </a: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2" name="Google Shape;152;p23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/>
          <p:nvPr/>
        </p:nvSpPr>
        <p:spPr>
          <a:xfrm>
            <a:off x="361775" y="1892925"/>
            <a:ext cx="8415300" cy="7359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/>
          <p:cNvSpPr/>
          <p:nvPr/>
        </p:nvSpPr>
        <p:spPr>
          <a:xfrm>
            <a:off x="364375" y="3040225"/>
            <a:ext cx="8415300" cy="7359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534800" y="1926675"/>
            <a:ext cx="7900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o </a:t>
            </a:r>
            <a:r>
              <a:rPr b="1" i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download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 </a:t>
            </a:r>
            <a:r>
              <a:rPr b="1" i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disponibilizamos um </a:t>
            </a:r>
            <a:r>
              <a:rPr b="1" i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público para acesso: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446975" y="3073975"/>
            <a:ext cx="82449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https://docs.google.com/spreadsheets/d/1FZi8DrgjNUPo9mvHq13gQWXs-pqD02nx/edit?usp=drive_link&amp;ouid=110608327084149723324&amp;rtpof=true&amp;sd=true</a:t>
            </a:r>
            <a:endParaRPr sz="1200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4"/>
          <p:cNvSpPr/>
          <p:nvPr/>
        </p:nvSpPr>
        <p:spPr>
          <a:xfrm>
            <a:off x="574225" y="626375"/>
            <a:ext cx="1069500" cy="666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 txBox="1"/>
          <p:nvPr/>
        </p:nvSpPr>
        <p:spPr>
          <a:xfrm>
            <a:off x="1794475" y="3946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r>
              <a:rPr b="1" i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Download</a:t>
            </a: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do </a:t>
            </a:r>
            <a:r>
              <a:rPr b="1" i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Template</a:t>
            </a: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4" name="Google Shape;164;p24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225" y="1226825"/>
            <a:ext cx="5228126" cy="3555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" name="Google Shape;166;p24"/>
          <p:cNvSpPr/>
          <p:nvPr/>
        </p:nvSpPr>
        <p:spPr>
          <a:xfrm>
            <a:off x="912275" y="1504050"/>
            <a:ext cx="487800" cy="1866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"/>
          <p:cNvSpPr/>
          <p:nvPr/>
        </p:nvSpPr>
        <p:spPr>
          <a:xfrm>
            <a:off x="912275" y="3308025"/>
            <a:ext cx="2391000" cy="223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/>
          <p:nvPr/>
        </p:nvSpPr>
        <p:spPr>
          <a:xfrm>
            <a:off x="3303275" y="3345275"/>
            <a:ext cx="2209800" cy="2652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4"/>
          <p:cNvSpPr/>
          <p:nvPr/>
        </p:nvSpPr>
        <p:spPr>
          <a:xfrm>
            <a:off x="5937825" y="1997625"/>
            <a:ext cx="3043800" cy="20526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4"/>
          <p:cNvSpPr txBox="1"/>
          <p:nvPr/>
        </p:nvSpPr>
        <p:spPr>
          <a:xfrm>
            <a:off x="6126675" y="2080125"/>
            <a:ext cx="2666100" cy="18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Antes de iniciar o preenchimento do </a:t>
            </a:r>
            <a:r>
              <a:rPr b="1" i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template</a:t>
            </a:r>
            <a:r>
              <a:rPr b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faça o </a:t>
            </a:r>
            <a:r>
              <a:rPr b="1" i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download</a:t>
            </a:r>
            <a:r>
              <a:rPr b="1" lang="de" sz="16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do arquivo. Não é recomendado o preenchimento com o arquivo ainda na nuvem (Drive).</a:t>
            </a:r>
            <a:endParaRPr b="1" sz="1600">
              <a:solidFill>
                <a:srgbClr val="0156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5"/>
          <p:cNvSpPr/>
          <p:nvPr/>
        </p:nvSpPr>
        <p:spPr>
          <a:xfrm>
            <a:off x="574225" y="626375"/>
            <a:ext cx="1069500" cy="666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"/>
          <p:cNvSpPr txBox="1"/>
          <p:nvPr/>
        </p:nvSpPr>
        <p:spPr>
          <a:xfrm>
            <a:off x="1794475" y="3946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Envio do </a:t>
            </a:r>
            <a:r>
              <a:rPr b="1" i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Template</a:t>
            </a: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8" name="Google Shape;178;p25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/>
          <p:nvPr/>
        </p:nvSpPr>
        <p:spPr>
          <a:xfrm>
            <a:off x="361775" y="1892925"/>
            <a:ext cx="8415300" cy="7359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5"/>
          <p:cNvSpPr/>
          <p:nvPr/>
        </p:nvSpPr>
        <p:spPr>
          <a:xfrm>
            <a:off x="2972850" y="3040225"/>
            <a:ext cx="3098700" cy="7359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 txBox="1"/>
          <p:nvPr/>
        </p:nvSpPr>
        <p:spPr>
          <a:xfrm>
            <a:off x="534800" y="1926675"/>
            <a:ext cx="80769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Após concluir o preenchimento da planilha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com todos os dados solicitados e indispensáveis, envie para o nosso endereço oficial de </a:t>
            </a:r>
            <a:r>
              <a:rPr b="1" i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e-mail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2892150" y="3073975"/>
            <a:ext cx="32601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operacoes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@herbyvision.com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6"/>
          <p:cNvSpPr/>
          <p:nvPr/>
        </p:nvSpPr>
        <p:spPr>
          <a:xfrm>
            <a:off x="574225" y="626375"/>
            <a:ext cx="1069500" cy="666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6"/>
          <p:cNvSpPr txBox="1"/>
          <p:nvPr/>
        </p:nvSpPr>
        <p:spPr>
          <a:xfrm>
            <a:off x="1794475" y="3946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Avisos Importantes!</a:t>
            </a: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0" name="Google Shape;190;p26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/>
          <p:nvPr/>
        </p:nvSpPr>
        <p:spPr>
          <a:xfrm>
            <a:off x="574225" y="1299175"/>
            <a:ext cx="7994100" cy="32001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6"/>
          <p:cNvSpPr txBox="1"/>
          <p:nvPr/>
        </p:nvSpPr>
        <p:spPr>
          <a:xfrm>
            <a:off x="863875" y="1379054"/>
            <a:ext cx="74163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Helvetica Neue"/>
              <a:buChar char="●"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links anteriormente enviados permanecem válidos.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Helvetica Neue"/>
              <a:buChar char="●"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dados dos cartões de respostas são nominais, portanto, cada linha do arquivo deverá conter um estudante.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Helvetica Neue"/>
              <a:buChar char="●"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Todos os dados de um mesmo município devem vir no mesmo arquivo e na mesma aba.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Helvetica Neue"/>
              <a:buChar char="●"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</a:t>
            </a:r>
            <a:r>
              <a:rPr b="1" i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leiaute 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 planilha não deve ser alterado, para que não haja contratempos no carregamento dos dados para a plataforma Herby.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Helvetica Neue"/>
              <a:buChar char="●"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cadastro das turmas do 1º e 8º anos também pode ser feito direto na plataforma, e dessa forma, não precisam ser enviados por template.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